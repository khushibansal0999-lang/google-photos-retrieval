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No fellow name. Evidence base: 1,196 tagged public posts, survey n=31, interviews P1-P2, first-party test on production Ask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NOT a chained funnel: denominators differ. Survey: 28/31 one cue, 21/31 two+, 23/31 scroll, 15/31 search, 24/31 several tries. Reviews: 69/84 app misread the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1-slide workflow explanation the brief requires. Link: https://app-photos-retrieval-qvlu7ymwqfadwg3siqnqjb.streamlit.app/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the leak is at Match, not Remember. Competitive landscape: https://github.com/khushibansal0999-lang/google-photos-retrieval/blob/main/research/market-research/competitive-landscape.md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https://github.com/khushibansal0999-lang/google-photos-retrieval/blob/main/research/survey/survey-findings.md · Interview method deliberately task-based because self-report about search behaviour is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evidence in the project: first-party, reproducible, controlled. One clarifying question ('August 2025 or 2026?') would have solved it in one turn. Detail: https://github.com/khushibansal0999-lang/google-photos-retrieval/blob/main/research/first-party-test.md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1.5B MAU is Google's own 10th-anniversary figure (May 2025). Survey said 68% deep-library; halved to 35% because n=31 skews engaged. All figures labelled estimates. Full canvas: https://github.com/khushibansal0999-lang/google-photos-retrieval/blob/main/research/problem-definition.md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RICE scored with confidence = evidence, not enthusiasm. Full scoring and defence: https://github.com/khushibansal0999-lang/google-photos-retrieval/blob/main/research/solution-selection.md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after testing on 3 Oct. Criteria are pre-registered so they can't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must be re-checked against the MVP actually shipped. The re-photograph diagnostic comes from P1 and 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app-photos-retrieval-qvlu7ymwqfadwg3siqnqjb.streamlit.app/" TargetMode="External"/><Relationship Id="rId2" Type="http://schemas.openxmlformats.org/officeDocument/2006/relationships/hyperlink" Target="https://github.com/khushibansal0999-lang/google-photos-retrieval"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pp-photos-retrieval-qvlu7ymwqfadwg3siqnqjb.streamlit.app/"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777240"/>
            <a:ext cx="11094415" cy="320040"/>
          </a:xfrm>
          <a:prstGeom prst="rect">
            <a:avLst/>
          </a:prstGeom>
          <a:noFill/>
          <a:ln/>
        </p:spPr>
        <p:txBody>
          <a:bodyPr wrap="square" lIns="0" tIns="0" rIns="0" bIns="0" rtlCol="0" anchor="t"/>
          <a:lstStyle/>
          <a:p>
            <a:pPr indent="0" marL="0">
              <a:buNone/>
            </a:pPr>
            <a:r>
              <a:rPr lang="en-US" sz="1600" b="1" dirty="0">
                <a:solidFill>
                  <a:srgbClr val="9FB3CC"/>
                </a:solidFill>
                <a:latin typeface="Roboto" pitchFamily="34" charset="0"/>
                <a:ea typeface="Roboto" pitchFamily="34" charset="-122"/>
                <a:cs typeface="Roboto" pitchFamily="34" charset="-120"/>
              </a:rPr>
              <a:t>Google Photos · Core Experience</a:t>
            </a:r>
            <a:endParaRPr lang="en-US" sz="1600" dirty="0"/>
          </a:p>
        </p:txBody>
      </p:sp>
      <p:sp>
        <p:nvSpPr>
          <p:cNvPr id="3" name="Text 1"/>
          <p:cNvSpPr txBox="1"/>
          <p:nvPr/>
        </p:nvSpPr>
        <p:spPr>
          <a:xfrm>
            <a:off x="548640" y="1234440"/>
            <a:ext cx="9601200" cy="1828800"/>
          </a:xfrm>
          <a:prstGeom prst="rect">
            <a:avLst/>
          </a:prstGeom>
          <a:noFill/>
          <a:ln/>
        </p:spPr>
        <p:txBody>
          <a:bodyPr wrap="square" lIns="0" tIns="0" rIns="0" bIns="0" rtlCol="0" anchor="t"/>
          <a:lstStyle/>
          <a:p>
            <a:pPr indent="0" marL="0">
              <a:buNone/>
            </a:pPr>
            <a:r>
              <a:rPr lang="en-US" sz="4000" b="1" dirty="0">
                <a:solidFill>
                  <a:srgbClr val="FFFFFF"/>
                </a:solidFill>
                <a:latin typeface="Roboto Slab" pitchFamily="34" charset="0"/>
                <a:ea typeface="Roboto Slab" pitchFamily="34" charset="-122"/>
                <a:cs typeface="Roboto Slab" pitchFamily="34" charset="-120"/>
              </a:rPr>
              <a:t>People remember the moment.</a:t>
            </a:r>
            <a:endParaRPr lang="en-US" sz="4000" dirty="0"/>
          </a:p>
          <a:p>
            <a:pPr indent="0" marL="0">
              <a:buNone/>
            </a:pPr>
            <a:r>
              <a:rPr lang="en-US" sz="4000" b="1" dirty="0">
                <a:solidFill>
                  <a:srgbClr val="FFFFFF"/>
                </a:solidFill>
                <a:latin typeface="Roboto Slab" pitchFamily="34" charset="0"/>
                <a:ea typeface="Roboto Slab" pitchFamily="34" charset="-122"/>
                <a:cs typeface="Roboto Slab" pitchFamily="34" charset="-120"/>
              </a:rPr>
              <a:t>The app only accepts the metadata.</a:t>
            </a:r>
            <a:endParaRPr lang="en-US" sz="4000" dirty="0"/>
          </a:p>
        </p:txBody>
      </p:sp>
      <p:sp>
        <p:nvSpPr>
          <p:cNvPr id="4" name="Text 2"/>
          <p:cNvSpPr txBox="1"/>
          <p:nvPr/>
        </p:nvSpPr>
        <p:spPr>
          <a:xfrm>
            <a:off x="548640" y="3200400"/>
            <a:ext cx="8412480" cy="822960"/>
          </a:xfrm>
          <a:prstGeom prst="rect">
            <a:avLst/>
          </a:prstGeom>
          <a:noFill/>
          <a:ln/>
        </p:spPr>
        <p:txBody>
          <a:bodyPr wrap="square" lIns="0" tIns="0" rIns="0" bIns="0" rtlCol="0" anchor="t"/>
          <a:lstStyle/>
          <a:p>
            <a:pPr indent="0" marL="0">
              <a:buNone/>
            </a:pPr>
            <a:r>
              <a:rPr lang="en-US" sz="1800" dirty="0">
                <a:solidFill>
                  <a:srgbClr val="D8E1EC"/>
                </a:solidFill>
                <a:latin typeface="Roboto" pitchFamily="34" charset="0"/>
                <a:ea typeface="Roboto" pitchFamily="34" charset="-122"/>
                <a:cs typeface="Roboto" pitchFamily="34" charset="-120"/>
              </a:rPr>
              <a:t>Photos people know they have stay unreachable, because both ways in need what memory doesn't keep: an exact date, or the exact word.</a:t>
            </a:r>
            <a:endParaRPr lang="en-US" sz="1800" dirty="0"/>
          </a:p>
        </p:txBody>
      </p:sp>
      <p:sp>
        <p:nvSpPr>
          <p:cNvPr id="5" name="Shape 3"/>
          <p:cNvSpPr/>
          <p:nvPr/>
        </p:nvSpPr>
        <p:spPr>
          <a:xfrm>
            <a:off x="548640" y="4443984"/>
            <a:ext cx="128016" cy="128016"/>
          </a:xfrm>
          <a:prstGeom prst="ellipse">
            <a:avLst/>
          </a:prstGeom>
          <a:solidFill>
            <a:srgbClr val="2A78D6"/>
          </a:solidFill>
          <a:ln w="12700">
            <a:solidFill>
              <a:srgbClr val="2A78D6"/>
            </a:solidFill>
            <a:prstDash val="solid"/>
          </a:ln>
        </p:spPr>
      </p:sp>
      <p:sp>
        <p:nvSpPr>
          <p:cNvPr id="6" name="Text 4"/>
          <p:cNvSpPr txBox="1"/>
          <p:nvPr/>
        </p:nvSpPr>
        <p:spPr>
          <a:xfrm>
            <a:off x="850392" y="4343400"/>
            <a:ext cx="8686800" cy="347472"/>
          </a:xfrm>
          <a:prstGeom prst="rect">
            <a:avLst/>
          </a:prstGeom>
          <a:noFill/>
          <a:ln/>
        </p:spPr>
        <p:txBody>
          <a:bodyPr wrap="square" lIns="0" tIns="0" rIns="0" bIns="0" rtlCol="0" anchor="t"/>
          <a:lstStyle/>
          <a:p>
            <a:pPr indent="0" marL="0">
              <a:buNone/>
            </a:pPr>
            <a:r>
              <a:rPr lang="en-US" sz="1600" u="sng" dirty="0">
                <a:solidFill>
                  <a:srgbClr val="FFFFFF"/>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 Discovery Engine (live, testable)  →</a:t>
            </a:r>
            <a:endParaRPr lang="en-US" sz="1600" dirty="0"/>
          </a:p>
        </p:txBody>
      </p:sp>
      <p:sp>
        <p:nvSpPr>
          <p:cNvPr id="7" name="Shape 5"/>
          <p:cNvSpPr/>
          <p:nvPr/>
        </p:nvSpPr>
        <p:spPr>
          <a:xfrm>
            <a:off x="548640" y="4901184"/>
            <a:ext cx="128016" cy="128016"/>
          </a:xfrm>
          <a:prstGeom prst="ellipse">
            <a:avLst/>
          </a:prstGeom>
          <a:solidFill>
            <a:srgbClr val="EB6834"/>
          </a:solidFill>
          <a:ln w="12700">
            <a:solidFill>
              <a:srgbClr val="EB6834"/>
            </a:solidFill>
            <a:prstDash val="solid"/>
          </a:ln>
        </p:spPr>
      </p:sp>
      <p:sp>
        <p:nvSpPr>
          <p:cNvPr id="8" name="Text 6"/>
          <p:cNvSpPr txBox="1"/>
          <p:nvPr/>
        </p:nvSpPr>
        <p:spPr>
          <a:xfrm>
            <a:off x="850392" y="4800600"/>
            <a:ext cx="8686800" cy="347472"/>
          </a:xfrm>
          <a:prstGeom prst="rect">
            <a:avLst/>
          </a:prstGeom>
          <a:noFill/>
          <a:ln/>
        </p:spPr>
        <p:txBody>
          <a:bodyPr wrap="square" lIns="0" tIns="0" rIns="0" bIns="0" rtlCol="0" anchor="t"/>
          <a:lstStyle/>
          <a:p>
            <a:pPr indent="0" marL="0">
              <a:buNone/>
            </a:pPr>
            <a:r>
              <a:rPr lang="en-US" sz="1600" dirty="0">
                <a:solidFill>
                  <a:srgbClr val="9FB3CC"/>
                </a:solidFill>
                <a:latin typeface="Roboto" pitchFamily="34" charset="0"/>
                <a:ea typeface="Roboto" pitchFamily="34" charset="-122"/>
                <a:cs typeface="Roboto" pitchFamily="34" charset="-120"/>
              </a:rPr>
              <a:t>AI-native MVP: link on submission</a:t>
            </a:r>
            <a:endParaRPr lang="en-US" sz="1600" dirty="0"/>
          </a:p>
        </p:txBody>
      </p:sp>
      <p:sp>
        <p:nvSpPr>
          <p:cNvPr id="9" name="Shape 7"/>
          <p:cNvSpPr/>
          <p:nvPr/>
        </p:nvSpPr>
        <p:spPr>
          <a:xfrm>
            <a:off x="548640" y="5358384"/>
            <a:ext cx="128016" cy="128016"/>
          </a:xfrm>
          <a:prstGeom prst="ellipse">
            <a:avLst/>
          </a:prstGeom>
          <a:solidFill>
            <a:srgbClr val="2A78D6"/>
          </a:solidFill>
          <a:ln w="12700">
            <a:solidFill>
              <a:srgbClr val="2A78D6"/>
            </a:solidFill>
            <a:prstDash val="solid"/>
          </a:ln>
        </p:spPr>
      </p:sp>
      <p:sp>
        <p:nvSpPr>
          <p:cNvPr id="10" name="Text 8"/>
          <p:cNvSpPr txBox="1"/>
          <p:nvPr/>
        </p:nvSpPr>
        <p:spPr>
          <a:xfrm>
            <a:off x="850392" y="5257800"/>
            <a:ext cx="8686800" cy="347472"/>
          </a:xfrm>
          <a:prstGeom prst="rect">
            <a:avLst/>
          </a:prstGeom>
          <a:noFill/>
          <a:ln/>
        </p:spPr>
        <p:txBody>
          <a:bodyPr wrap="square" lIns="0" tIns="0" rIns="0" bIns="0" rtlCol="0" anchor="t"/>
          <a:lstStyle/>
          <a:p>
            <a:pPr indent="0" marL="0">
              <a:buNone/>
            </a:pPr>
            <a:r>
              <a:rPr lang="en-US" sz="1600" u="sng" dirty="0">
                <a:solidFill>
                  <a:srgbClr val="FFFFFF"/>
                </a:solidFill>
                <a:latin typeface="Roboto" pitchFamily="34" charset="0"/>
                <a:ea typeface="Roboto" pitchFamily="34" charset="-122"/>
                <a:cs typeface="Robo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Research artefacts: problem definition, survey, interviews, plan  →</a:t>
            </a:r>
            <a:endParaRPr lang="en-US" sz="1600" dirty="0"/>
          </a:p>
        </p:txBody>
      </p:sp>
      <p:sp>
        <p:nvSpPr>
          <p:cNvPr id="11" name="Text 9"/>
          <p:cNvSpPr txBox="1"/>
          <p:nvPr/>
        </p:nvSpPr>
        <p:spPr>
          <a:xfrm>
            <a:off x="548640" y="6382512"/>
            <a:ext cx="11094415" cy="301752"/>
          </a:xfrm>
          <a:prstGeom prst="rect">
            <a:avLst/>
          </a:prstGeom>
          <a:noFill/>
          <a:ln/>
        </p:spPr>
        <p:txBody>
          <a:bodyPr wrap="square" lIns="0" tIns="0" rIns="0" bIns="0" rtlCol="0" anchor="t"/>
          <a:lstStyle/>
          <a:p>
            <a:pPr indent="0" marL="0">
              <a:buNone/>
            </a:pPr>
            <a:r>
              <a:rPr lang="en-US" sz="1400" dirty="0">
                <a:solidFill>
                  <a:srgbClr val="B8C4D6"/>
                </a:solidFill>
                <a:latin typeface="Roboto" pitchFamily="34" charset="0"/>
                <a:ea typeface="Roboto" pitchFamily="34" charset="-122"/>
                <a:cs typeface="Roboto" pitchFamily="34" charset="-120"/>
              </a:rPr>
              <a:t>NextLeap Product Management Fellowship · Graduation Project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Breaking the metric down: people arrive remembering plenty. Retrieval breaks when those memories meet the index</a:t>
            </a:r>
            <a:endParaRPr lang="en-US" sz="2500" dirty="0"/>
          </a:p>
        </p:txBody>
      </p:sp>
      <p:sp>
        <p:nvSpPr>
          <p:cNvPr id="3" name="Shape 1"/>
          <p:cNvSpPr/>
          <p:nvPr/>
        </p:nvSpPr>
        <p:spPr>
          <a:xfrm>
            <a:off x="548640" y="1371600"/>
            <a:ext cx="11094415" cy="640080"/>
          </a:xfrm>
          <a:prstGeom prst="roundRect">
            <a:avLst>
              <a:gd name="adj" fmla="val 17143"/>
            </a:avLst>
          </a:prstGeom>
          <a:solidFill>
            <a:srgbClr val="14213D"/>
          </a:solidFill>
          <a:ln w="12700">
            <a:solidFill>
              <a:srgbClr val="14213D"/>
            </a:solidFill>
            <a:prstDash val="solid"/>
          </a:ln>
        </p:spPr>
      </p:sp>
      <p:sp>
        <p:nvSpPr>
          <p:cNvPr id="4" name="Text 2"/>
          <p:cNvSpPr txBox="1"/>
          <p:nvPr/>
        </p:nvSpPr>
        <p:spPr>
          <a:xfrm>
            <a:off x="777240" y="1463040"/>
            <a:ext cx="10637215" cy="457200"/>
          </a:xfrm>
          <a:prstGeom prst="rect">
            <a:avLst/>
          </a:prstGeom>
          <a:noFill/>
          <a:ln/>
        </p:spPr>
        <p:txBody>
          <a:bodyPr wrap="square" lIns="0" tIns="0" rIns="0" bIns="0" rtlCol="0" anchor="ctr"/>
          <a:lstStyle/>
          <a:p>
            <a:pPr indent="0" marL="0">
              <a:buNone/>
            </a:pPr>
            <a:r>
              <a:rPr lang="en-US" sz="1600" b="1" dirty="0">
                <a:solidFill>
                  <a:srgbClr val="9FB3CC"/>
                </a:solidFill>
                <a:latin typeface="Roboto" pitchFamily="34" charset="0"/>
                <a:ea typeface="Roboto" pitchFamily="34" charset="-122"/>
                <a:cs typeface="Roboto" pitchFamily="34" charset="-120"/>
              </a:rPr>
              <a:t>North star:  </a:t>
            </a:r>
            <a:pPr indent="0" marL="0">
              <a:buNone/>
            </a:pPr>
            <a:r>
              <a:rPr lang="en-US" sz="1600" dirty="0">
                <a:solidFill>
                  <a:srgbClr val="FFFFFF"/>
                </a:solidFill>
                <a:latin typeface="Roboto" pitchFamily="34" charset="0"/>
                <a:ea typeface="Roboto" pitchFamily="34" charset="-122"/>
                <a:cs typeface="Roboto" pitchFamily="34" charset="-120"/>
              </a:rPr>
              <a:t>% of sessions hunting a specific photo ≥1 year old that end with the user opening it, without guessing a date or a keyword</a:t>
            </a:r>
            <a:endParaRPr lang="en-US" sz="1600" dirty="0"/>
          </a:p>
        </p:txBody>
      </p:sp>
      <p:sp>
        <p:nvSpPr>
          <p:cNvPr id="5" name="Shape 3"/>
          <p:cNvSpPr/>
          <p:nvPr/>
        </p:nvSpPr>
        <p:spPr>
          <a:xfrm>
            <a:off x="548640" y="2240280"/>
            <a:ext cx="2072579" cy="3017520"/>
          </a:xfrm>
          <a:prstGeom prst="roundRect">
            <a:avLst>
              <a:gd name="adj" fmla="val 5294"/>
            </a:avLst>
          </a:prstGeom>
          <a:solidFill>
            <a:srgbClr val="EEF2F6"/>
          </a:solidFill>
          <a:ln w="12700">
            <a:solidFill>
              <a:srgbClr val="EEF2F6"/>
            </a:solidFill>
            <a:prstDash val="solid"/>
          </a:ln>
        </p:spPr>
      </p:sp>
      <p:sp>
        <p:nvSpPr>
          <p:cNvPr id="6" name="Text 4"/>
          <p:cNvSpPr txBox="1"/>
          <p:nvPr/>
        </p:nvSpPr>
        <p:spPr>
          <a:xfrm>
            <a:off x="731520" y="2404872"/>
            <a:ext cx="1706819" cy="347472"/>
          </a:xfrm>
          <a:prstGeom prst="rect">
            <a:avLst/>
          </a:prstGeom>
          <a:noFill/>
          <a:ln/>
        </p:spPr>
        <p:txBody>
          <a:bodyPr wrap="square" lIns="0" tIns="0" rIns="0" bIns="0" rtlCol="0" anchor="t"/>
          <a:lstStyle/>
          <a:p>
            <a:pPr indent="0" marL="0">
              <a:buNone/>
            </a:pPr>
            <a:r>
              <a:rPr lang="en-US" sz="1900" b="1" dirty="0">
                <a:solidFill>
                  <a:srgbClr val="1C5CAB"/>
                </a:solidFill>
                <a:latin typeface="Roboto Slab" pitchFamily="34" charset="0"/>
                <a:ea typeface="Roboto Slab" pitchFamily="34" charset="-122"/>
                <a:cs typeface="Roboto Slab" pitchFamily="34" charset="-120"/>
              </a:rPr>
              <a:t>Remember</a:t>
            </a:r>
            <a:endParaRPr lang="en-US" sz="1900" dirty="0"/>
          </a:p>
        </p:txBody>
      </p:sp>
      <p:sp>
        <p:nvSpPr>
          <p:cNvPr id="7" name="Text 5"/>
          <p:cNvSpPr txBox="1"/>
          <p:nvPr/>
        </p:nvSpPr>
        <p:spPr>
          <a:xfrm>
            <a:off x="731520" y="2807208"/>
            <a:ext cx="1706819" cy="73152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Holds partial cues</a:t>
            </a:r>
            <a:endParaRPr lang="en-US" sz="1400" dirty="0"/>
          </a:p>
        </p:txBody>
      </p:sp>
      <p:sp>
        <p:nvSpPr>
          <p:cNvPr id="8" name="Text 6"/>
          <p:cNvSpPr txBox="1"/>
          <p:nvPr/>
        </p:nvSpPr>
        <p:spPr>
          <a:xfrm>
            <a:off x="731520" y="3611880"/>
            <a:ext cx="1706819" cy="1371600"/>
          </a:xfrm>
          <a:prstGeom prst="rect">
            <a:avLst/>
          </a:prstGeom>
          <a:noFill/>
          <a:ln/>
        </p:spPr>
        <p:txBody>
          <a:bodyPr wrap="square" lIns="0" tIns="0" rIns="0" bIns="0" rtlCol="0" anchor="t"/>
          <a:lstStyle/>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90% recall ≥1 cue</a:t>
            </a:r>
            <a:endParaRPr lang="en-US" sz="1500" dirty="0"/>
          </a:p>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68% recall 2 or more</a:t>
            </a:r>
            <a:endParaRPr lang="en-US" sz="1500" dirty="0"/>
          </a:p>
        </p:txBody>
      </p:sp>
      <p:sp>
        <p:nvSpPr>
          <p:cNvPr id="9" name="Shape 7"/>
          <p:cNvSpPr/>
          <p:nvPr/>
        </p:nvSpPr>
        <p:spPr>
          <a:xfrm>
            <a:off x="2804099" y="2240280"/>
            <a:ext cx="2072579" cy="3017520"/>
          </a:xfrm>
          <a:prstGeom prst="roundRect">
            <a:avLst>
              <a:gd name="adj" fmla="val 5294"/>
            </a:avLst>
          </a:prstGeom>
          <a:solidFill>
            <a:srgbClr val="FDEEE6"/>
          </a:solidFill>
          <a:ln w="12700">
            <a:solidFill>
              <a:srgbClr val="FDEEE6"/>
            </a:solidFill>
            <a:prstDash val="solid"/>
          </a:ln>
        </p:spPr>
      </p:sp>
      <p:sp>
        <p:nvSpPr>
          <p:cNvPr id="10" name="Text 8"/>
          <p:cNvSpPr txBox="1"/>
          <p:nvPr/>
        </p:nvSpPr>
        <p:spPr>
          <a:xfrm>
            <a:off x="2986979" y="2404872"/>
            <a:ext cx="1706819" cy="347472"/>
          </a:xfrm>
          <a:prstGeom prst="rect">
            <a:avLst/>
          </a:prstGeom>
          <a:noFill/>
          <a:ln/>
        </p:spPr>
        <p:txBody>
          <a:bodyPr wrap="square" lIns="0" tIns="0" rIns="0" bIns="0" rtlCol="0" anchor="t"/>
          <a:lstStyle/>
          <a:p>
            <a:pPr indent="0" marL="0">
              <a:buNone/>
            </a:pPr>
            <a:r>
              <a:rPr lang="en-US" sz="1900" b="1" dirty="0">
                <a:solidFill>
                  <a:srgbClr val="B04515"/>
                </a:solidFill>
                <a:latin typeface="Roboto Slab" pitchFamily="34" charset="0"/>
                <a:ea typeface="Roboto Slab" pitchFamily="34" charset="-122"/>
                <a:cs typeface="Roboto Slab" pitchFamily="34" charset="-120"/>
              </a:rPr>
              <a:t>Express</a:t>
            </a:r>
            <a:endParaRPr lang="en-US" sz="1900" dirty="0"/>
          </a:p>
        </p:txBody>
      </p:sp>
      <p:sp>
        <p:nvSpPr>
          <p:cNvPr id="11" name="Text 9"/>
          <p:cNvSpPr txBox="1"/>
          <p:nvPr/>
        </p:nvSpPr>
        <p:spPr>
          <a:xfrm>
            <a:off x="2986979" y="2807208"/>
            <a:ext cx="1706819" cy="73152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Turns cues into a query or a browse path</a:t>
            </a:r>
            <a:endParaRPr lang="en-US" sz="1400" dirty="0"/>
          </a:p>
        </p:txBody>
      </p:sp>
      <p:sp>
        <p:nvSpPr>
          <p:cNvPr id="12" name="Text 10"/>
          <p:cNvSpPr txBox="1"/>
          <p:nvPr/>
        </p:nvSpPr>
        <p:spPr>
          <a:xfrm>
            <a:off x="2986979" y="3611880"/>
            <a:ext cx="1706819" cy="1371600"/>
          </a:xfrm>
          <a:prstGeom prst="rect">
            <a:avLst/>
          </a:prstGeom>
          <a:noFill/>
          <a:ln/>
        </p:spPr>
        <p:txBody>
          <a:bodyPr wrap="square" lIns="0" tIns="0" rIns="0" bIns="0" rtlCol="0" anchor="t"/>
          <a:lstStyle/>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74% scroll by date</a:t>
            </a:r>
            <a:endParaRPr lang="en-US" sz="1500" dirty="0"/>
          </a:p>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only 48% ever search</a:t>
            </a:r>
            <a:endParaRPr lang="en-US" sz="1500" dirty="0"/>
          </a:p>
        </p:txBody>
      </p:sp>
      <p:sp>
        <p:nvSpPr>
          <p:cNvPr id="13" name="Shape 11"/>
          <p:cNvSpPr/>
          <p:nvPr/>
        </p:nvSpPr>
        <p:spPr>
          <a:xfrm>
            <a:off x="5059558" y="2240280"/>
            <a:ext cx="2072579" cy="3017520"/>
          </a:xfrm>
          <a:prstGeom prst="roundRect">
            <a:avLst>
              <a:gd name="adj" fmla="val 5294"/>
            </a:avLst>
          </a:prstGeom>
          <a:solidFill>
            <a:srgbClr val="FDEEE6"/>
          </a:solidFill>
          <a:ln w="12700">
            <a:solidFill>
              <a:srgbClr val="FDEEE6"/>
            </a:solidFill>
            <a:prstDash val="solid"/>
          </a:ln>
        </p:spPr>
      </p:sp>
      <p:sp>
        <p:nvSpPr>
          <p:cNvPr id="14" name="Text 12"/>
          <p:cNvSpPr txBox="1"/>
          <p:nvPr/>
        </p:nvSpPr>
        <p:spPr>
          <a:xfrm>
            <a:off x="5242438" y="2404872"/>
            <a:ext cx="1706819" cy="347472"/>
          </a:xfrm>
          <a:prstGeom prst="rect">
            <a:avLst/>
          </a:prstGeom>
          <a:noFill/>
          <a:ln/>
        </p:spPr>
        <p:txBody>
          <a:bodyPr wrap="square" lIns="0" tIns="0" rIns="0" bIns="0" rtlCol="0" anchor="t"/>
          <a:lstStyle/>
          <a:p>
            <a:pPr indent="0" marL="0">
              <a:buNone/>
            </a:pPr>
            <a:r>
              <a:rPr lang="en-US" sz="1900" b="1" dirty="0">
                <a:solidFill>
                  <a:srgbClr val="B04515"/>
                </a:solidFill>
                <a:latin typeface="Roboto Slab" pitchFamily="34" charset="0"/>
                <a:ea typeface="Roboto Slab" pitchFamily="34" charset="-122"/>
                <a:cs typeface="Roboto Slab" pitchFamily="34" charset="-120"/>
              </a:rPr>
              <a:t>Match</a:t>
            </a:r>
            <a:endParaRPr lang="en-US" sz="1900" dirty="0"/>
          </a:p>
        </p:txBody>
      </p:sp>
      <p:sp>
        <p:nvSpPr>
          <p:cNvPr id="15" name="Text 13"/>
          <p:cNvSpPr txBox="1"/>
          <p:nvPr/>
        </p:nvSpPr>
        <p:spPr>
          <a:xfrm>
            <a:off x="5242438" y="2807208"/>
            <a:ext cx="1706819" cy="73152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Index maps cue → photo</a:t>
            </a:r>
            <a:endParaRPr lang="en-US" sz="1400" dirty="0"/>
          </a:p>
        </p:txBody>
      </p:sp>
      <p:sp>
        <p:nvSpPr>
          <p:cNvPr id="16" name="Text 14"/>
          <p:cNvSpPr txBox="1"/>
          <p:nvPr/>
        </p:nvSpPr>
        <p:spPr>
          <a:xfrm>
            <a:off x="5242438" y="3611880"/>
            <a:ext cx="1706819" cy="1371600"/>
          </a:xfrm>
          <a:prstGeom prst="rect">
            <a:avLst/>
          </a:prstGeom>
          <a:noFill/>
          <a:ln/>
        </p:spPr>
        <p:txBody>
          <a:bodyPr wrap="square" lIns="0" tIns="0" rIns="0" bIns="0" rtlCol="0" anchor="t"/>
          <a:lstStyle/>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82% of failures: a fair</a:t>
            </a:r>
            <a:endParaRPr lang="en-US" sz="1500" dirty="0"/>
          </a:p>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clue, misread</a:t>
            </a:r>
            <a:endParaRPr lang="en-US" sz="1500" dirty="0"/>
          </a:p>
        </p:txBody>
      </p:sp>
      <p:sp>
        <p:nvSpPr>
          <p:cNvPr id="17" name="Shape 15"/>
          <p:cNvSpPr/>
          <p:nvPr/>
        </p:nvSpPr>
        <p:spPr>
          <a:xfrm>
            <a:off x="7315017" y="2240280"/>
            <a:ext cx="2072579" cy="3017520"/>
          </a:xfrm>
          <a:prstGeom prst="roundRect">
            <a:avLst>
              <a:gd name="adj" fmla="val 5294"/>
            </a:avLst>
          </a:prstGeom>
          <a:solidFill>
            <a:srgbClr val="FDEEE6"/>
          </a:solidFill>
          <a:ln w="12700">
            <a:solidFill>
              <a:srgbClr val="FDEEE6"/>
            </a:solidFill>
            <a:prstDash val="solid"/>
          </a:ln>
        </p:spPr>
      </p:sp>
      <p:sp>
        <p:nvSpPr>
          <p:cNvPr id="18" name="Text 16"/>
          <p:cNvSpPr txBox="1"/>
          <p:nvPr/>
        </p:nvSpPr>
        <p:spPr>
          <a:xfrm>
            <a:off x="7497897" y="2404872"/>
            <a:ext cx="1706819" cy="347472"/>
          </a:xfrm>
          <a:prstGeom prst="rect">
            <a:avLst/>
          </a:prstGeom>
          <a:noFill/>
          <a:ln/>
        </p:spPr>
        <p:txBody>
          <a:bodyPr wrap="square" lIns="0" tIns="0" rIns="0" bIns="0" rtlCol="0" anchor="t"/>
          <a:lstStyle/>
          <a:p>
            <a:pPr indent="0" marL="0">
              <a:buNone/>
            </a:pPr>
            <a:r>
              <a:rPr lang="en-US" sz="1900" b="1" dirty="0">
                <a:solidFill>
                  <a:srgbClr val="B04515"/>
                </a:solidFill>
                <a:latin typeface="Roboto Slab" pitchFamily="34" charset="0"/>
                <a:ea typeface="Roboto Slab" pitchFamily="34" charset="-122"/>
                <a:cs typeface="Roboto Slab" pitchFamily="34" charset="-120"/>
              </a:rPr>
              <a:t>Evaluate</a:t>
            </a:r>
            <a:endParaRPr lang="en-US" sz="1900" dirty="0"/>
          </a:p>
        </p:txBody>
      </p:sp>
      <p:sp>
        <p:nvSpPr>
          <p:cNvPr id="19" name="Text 17"/>
          <p:cNvSpPr txBox="1"/>
          <p:nvPr/>
        </p:nvSpPr>
        <p:spPr>
          <a:xfrm>
            <a:off x="7497897" y="2807208"/>
            <a:ext cx="1706819" cy="73152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Spots it among results</a:t>
            </a:r>
            <a:endParaRPr lang="en-US" sz="1400" dirty="0"/>
          </a:p>
        </p:txBody>
      </p:sp>
      <p:sp>
        <p:nvSpPr>
          <p:cNvPr id="20" name="Text 18"/>
          <p:cNvSpPr txBox="1"/>
          <p:nvPr/>
        </p:nvSpPr>
        <p:spPr>
          <a:xfrm>
            <a:off x="7497897" y="3611880"/>
            <a:ext cx="1706819" cy="1371600"/>
          </a:xfrm>
          <a:prstGeom prst="rect">
            <a:avLst/>
          </a:prstGeom>
          <a:noFill/>
          <a:ln/>
        </p:spPr>
        <p:txBody>
          <a:bodyPr wrap="square" lIns="0" tIns="0" rIns="0" bIns="0" rtlCol="0" anchor="t"/>
          <a:lstStyle/>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one query returned</a:t>
            </a:r>
            <a:endParaRPr lang="en-US" sz="1500" dirty="0"/>
          </a:p>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64 items for one bill</a:t>
            </a:r>
            <a:endParaRPr lang="en-US" sz="1500" dirty="0"/>
          </a:p>
        </p:txBody>
      </p:sp>
      <p:sp>
        <p:nvSpPr>
          <p:cNvPr id="21" name="Shape 19"/>
          <p:cNvSpPr/>
          <p:nvPr/>
        </p:nvSpPr>
        <p:spPr>
          <a:xfrm>
            <a:off x="9570476" y="2240280"/>
            <a:ext cx="2072579" cy="3017520"/>
          </a:xfrm>
          <a:prstGeom prst="roundRect">
            <a:avLst>
              <a:gd name="adj" fmla="val 5294"/>
            </a:avLst>
          </a:prstGeom>
          <a:solidFill>
            <a:srgbClr val="FDEEE6"/>
          </a:solidFill>
          <a:ln w="12700">
            <a:solidFill>
              <a:srgbClr val="FDEEE6"/>
            </a:solidFill>
            <a:prstDash val="solid"/>
          </a:ln>
        </p:spPr>
      </p:sp>
      <p:sp>
        <p:nvSpPr>
          <p:cNvPr id="22" name="Text 20"/>
          <p:cNvSpPr txBox="1"/>
          <p:nvPr/>
        </p:nvSpPr>
        <p:spPr>
          <a:xfrm>
            <a:off x="9753356" y="2404872"/>
            <a:ext cx="1706819" cy="347472"/>
          </a:xfrm>
          <a:prstGeom prst="rect">
            <a:avLst/>
          </a:prstGeom>
          <a:noFill/>
          <a:ln/>
        </p:spPr>
        <p:txBody>
          <a:bodyPr wrap="square" lIns="0" tIns="0" rIns="0" bIns="0" rtlCol="0" anchor="t"/>
          <a:lstStyle/>
          <a:p>
            <a:pPr indent="0" marL="0">
              <a:buNone/>
            </a:pPr>
            <a:r>
              <a:rPr lang="en-US" sz="1900" b="1" dirty="0">
                <a:solidFill>
                  <a:srgbClr val="B04515"/>
                </a:solidFill>
                <a:latin typeface="Roboto Slab" pitchFamily="34" charset="0"/>
                <a:ea typeface="Roboto Slab" pitchFamily="34" charset="-122"/>
                <a:cs typeface="Roboto Slab" pitchFamily="34" charset="-120"/>
              </a:rPr>
              <a:t>Recover</a:t>
            </a:r>
            <a:endParaRPr lang="en-US" sz="1900" dirty="0"/>
          </a:p>
        </p:txBody>
      </p:sp>
      <p:sp>
        <p:nvSpPr>
          <p:cNvPr id="23" name="Text 21"/>
          <p:cNvSpPr txBox="1"/>
          <p:nvPr/>
        </p:nvSpPr>
        <p:spPr>
          <a:xfrm>
            <a:off x="9753356" y="2807208"/>
            <a:ext cx="1706819" cy="73152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Narrows after a miss</a:t>
            </a:r>
            <a:endParaRPr lang="en-US" sz="1400" dirty="0"/>
          </a:p>
        </p:txBody>
      </p:sp>
      <p:sp>
        <p:nvSpPr>
          <p:cNvPr id="24" name="Text 22"/>
          <p:cNvSpPr txBox="1"/>
          <p:nvPr/>
        </p:nvSpPr>
        <p:spPr>
          <a:xfrm>
            <a:off x="9753356" y="3611880"/>
            <a:ext cx="1706819" cy="1371600"/>
          </a:xfrm>
          <a:prstGeom prst="rect">
            <a:avLst/>
          </a:prstGeom>
          <a:noFill/>
          <a:ln/>
        </p:spPr>
        <p:txBody>
          <a:bodyPr wrap="square" lIns="0" tIns="0" rIns="0" bIns="0" rtlCol="0" anchor="t"/>
          <a:lstStyle/>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77% needed several tries</a:t>
            </a:r>
            <a:endParaRPr lang="en-US" sz="1500" dirty="0"/>
          </a:p>
          <a:p>
            <a:pPr indent="0" marL="0">
              <a:lnSpc>
                <a:spcPct val="120000"/>
              </a:lnSpc>
              <a:buNone/>
            </a:pPr>
            <a:r>
              <a:rPr lang="en-US" sz="1500" b="1" dirty="0">
                <a:solidFill>
                  <a:srgbClr val="1C2530"/>
                </a:solidFill>
                <a:latin typeface="Roboto" pitchFamily="34" charset="0"/>
                <a:ea typeface="Roboto" pitchFamily="34" charset="-122"/>
                <a:cs typeface="Roboto" pitchFamily="34" charset="-120"/>
              </a:rPr>
              <a:t>nothing narrows for them</a:t>
            </a:r>
            <a:endParaRPr lang="en-US" sz="1500" dirty="0"/>
          </a:p>
        </p:txBody>
      </p:sp>
      <p:sp>
        <p:nvSpPr>
          <p:cNvPr id="25" name="Shape 23"/>
          <p:cNvSpPr/>
          <p:nvPr/>
        </p:nvSpPr>
        <p:spPr>
          <a:xfrm>
            <a:off x="548640" y="5440680"/>
            <a:ext cx="11094415" cy="822960"/>
          </a:xfrm>
          <a:prstGeom prst="roundRect">
            <a:avLst>
              <a:gd name="adj" fmla="val 13333"/>
            </a:avLst>
          </a:prstGeom>
          <a:solidFill>
            <a:srgbClr val="EEF2F6"/>
          </a:solidFill>
          <a:ln w="12700">
            <a:solidFill>
              <a:srgbClr val="EEF2F6"/>
            </a:solidFill>
            <a:prstDash val="solid"/>
          </a:ln>
        </p:spPr>
      </p:sp>
      <p:sp>
        <p:nvSpPr>
          <p:cNvPr id="26" name="Text 24"/>
          <p:cNvSpPr txBox="1"/>
          <p:nvPr/>
        </p:nvSpPr>
        <p:spPr>
          <a:xfrm>
            <a:off x="777240" y="5541264"/>
            <a:ext cx="10637215" cy="640080"/>
          </a:xfrm>
          <a:prstGeom prst="rect">
            <a:avLst/>
          </a:prstGeom>
          <a:noFill/>
          <a:ln/>
        </p:spPr>
        <p:txBody>
          <a:bodyPr wrap="square" lIns="0" tIns="0" rIns="0" bIns="0" rtlCol="0" anchor="ctr"/>
          <a:lstStyle/>
          <a:p>
            <a:pPr indent="0" marL="0">
              <a:buNone/>
            </a:pPr>
            <a:r>
              <a:rPr lang="en-US" sz="1400" b="1" dirty="0">
                <a:solidFill>
                  <a:srgbClr val="1C2530"/>
                </a:solidFill>
                <a:latin typeface="Roboto" pitchFamily="34" charset="0"/>
                <a:ea typeface="Roboto" pitchFamily="34" charset="-122"/>
                <a:cs typeface="Roboto" pitchFamily="34" charset="-120"/>
              </a:rPr>
              <a:t>Four independent lenses on one journey, not a funnel. </a:t>
            </a:r>
            <a:pPr indent="0" marL="0">
              <a:buNone/>
            </a:pPr>
            <a:r>
              <a:rPr lang="en-US" sz="1400" dirty="0">
                <a:solidFill>
                  <a:srgbClr val="1C2530"/>
                </a:solidFill>
                <a:latin typeface="Roboto" pitchFamily="34" charset="0"/>
                <a:ea typeface="Roboto" pitchFamily="34" charset="-122"/>
                <a:cs typeface="Roboto" pitchFamily="34" charset="-120"/>
              </a:rPr>
              <a:t>The percentages come from different samples (survey n=31 · tagged reviews n=84 · interviews) and are not multiplied. They agree on where the leak is: everything after Remember.</a:t>
            </a:r>
            <a:endParaRPr lang="en-US" sz="1400" dirty="0"/>
          </a:p>
        </p:txBody>
      </p:sp>
      <p:sp>
        <p:nvSpPr>
          <p:cNvPr id="27" name="Text 25"/>
          <p:cNvSpPr txBox="1"/>
          <p:nvPr/>
        </p:nvSpPr>
        <p:spPr>
          <a:xfrm>
            <a:off x="548640" y="6382512"/>
            <a:ext cx="11094415" cy="301752"/>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Orange = leaking. Full metric tree and raw counts in the research repo.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How the AI discovery engine works: 6,551 public posts turned into comparable, queryable evidence</a:t>
            </a:r>
            <a:endParaRPr lang="en-US" sz="2500" dirty="0"/>
          </a:p>
        </p:txBody>
      </p:sp>
      <p:sp>
        <p:nvSpPr>
          <p:cNvPr id="3" name="Shape 1"/>
          <p:cNvSpPr/>
          <p:nvPr/>
        </p:nvSpPr>
        <p:spPr>
          <a:xfrm>
            <a:off x="548640" y="1508760"/>
            <a:ext cx="2014057" cy="3200400"/>
          </a:xfrm>
          <a:prstGeom prst="roundRect">
            <a:avLst>
              <a:gd name="adj" fmla="val 5448"/>
            </a:avLst>
          </a:prstGeom>
          <a:solidFill>
            <a:srgbClr val="EEF2F6"/>
          </a:solidFill>
          <a:ln w="12700">
            <a:solidFill>
              <a:srgbClr val="EEF2F6"/>
            </a:solidFill>
            <a:prstDash val="solid"/>
          </a:ln>
        </p:spPr>
      </p:sp>
      <p:sp>
        <p:nvSpPr>
          <p:cNvPr id="4" name="Shape 2"/>
          <p:cNvSpPr/>
          <p:nvPr/>
        </p:nvSpPr>
        <p:spPr>
          <a:xfrm>
            <a:off x="731520" y="1709928"/>
            <a:ext cx="438912" cy="438912"/>
          </a:xfrm>
          <a:prstGeom prst="ellipse">
            <a:avLst/>
          </a:prstGeom>
          <a:solidFill>
            <a:srgbClr val="2A78D6"/>
          </a:solidFill>
          <a:ln w="12700">
            <a:solidFill>
              <a:srgbClr val="2A78D6"/>
            </a:solidFill>
            <a:prstDash val="solid"/>
          </a:ln>
        </p:spPr>
      </p:sp>
      <p:sp>
        <p:nvSpPr>
          <p:cNvPr id="5" name="Text 3"/>
          <p:cNvSpPr txBox="1"/>
          <p:nvPr/>
        </p:nvSpPr>
        <p:spPr>
          <a:xfrm>
            <a:off x="731520" y="1737360"/>
            <a:ext cx="438912"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1</a:t>
            </a:r>
            <a:endParaRPr lang="en-US" sz="1800" dirty="0"/>
          </a:p>
        </p:txBody>
      </p:sp>
      <p:sp>
        <p:nvSpPr>
          <p:cNvPr id="6" name="Text 4"/>
          <p:cNvSpPr txBox="1"/>
          <p:nvPr/>
        </p:nvSpPr>
        <p:spPr>
          <a:xfrm>
            <a:off x="731520" y="2258568"/>
            <a:ext cx="1648297" cy="347472"/>
          </a:xfrm>
          <a:prstGeom prst="rect">
            <a:avLst/>
          </a:prstGeom>
          <a:noFill/>
          <a:ln/>
        </p:spPr>
        <p:txBody>
          <a:bodyPr wrap="square" lIns="0" tIns="0" rIns="0" bIns="0" rtlCol="0" anchor="t"/>
          <a:lstStyle/>
          <a:p>
            <a:pPr indent="0" marL="0">
              <a:buNone/>
            </a:pPr>
            <a:r>
              <a:rPr lang="en-US" sz="1800" b="1" dirty="0">
                <a:solidFill>
                  <a:srgbClr val="1C2530"/>
                </a:solidFill>
                <a:latin typeface="Roboto Slab" pitchFamily="34" charset="0"/>
                <a:ea typeface="Roboto Slab" pitchFamily="34" charset="-122"/>
                <a:cs typeface="Roboto Slab" pitchFamily="34" charset="-120"/>
              </a:rPr>
              <a:t>Collect</a:t>
            </a:r>
            <a:endParaRPr lang="en-US" sz="1800" dirty="0"/>
          </a:p>
        </p:txBody>
      </p:sp>
      <p:sp>
        <p:nvSpPr>
          <p:cNvPr id="7" name="Text 5"/>
          <p:cNvSpPr txBox="1"/>
          <p:nvPr/>
        </p:nvSpPr>
        <p:spPr>
          <a:xfrm>
            <a:off x="731520" y="2642616"/>
            <a:ext cx="1648297" cy="365760"/>
          </a:xfrm>
          <a:prstGeom prst="rect">
            <a:avLst/>
          </a:prstGeom>
          <a:noFill/>
          <a:ln/>
        </p:spPr>
        <p:txBody>
          <a:bodyPr wrap="square" lIns="0" tIns="0" rIns="0" bIns="0" rtlCol="0" anchor="t"/>
          <a:lstStyle/>
          <a:p>
            <a:pPr indent="0" marL="0">
              <a:buNone/>
            </a:pPr>
            <a:r>
              <a:rPr lang="en-US" sz="1600" b="1" dirty="0">
                <a:solidFill>
                  <a:srgbClr val="1C5CAB"/>
                </a:solidFill>
                <a:latin typeface="Roboto" pitchFamily="34" charset="0"/>
                <a:ea typeface="Roboto" pitchFamily="34" charset="-122"/>
                <a:cs typeface="Roboto" pitchFamily="34" charset="-120"/>
              </a:rPr>
              <a:t>6,551 posts</a:t>
            </a:r>
            <a:endParaRPr lang="en-US" sz="1600" dirty="0"/>
          </a:p>
        </p:txBody>
      </p:sp>
      <p:sp>
        <p:nvSpPr>
          <p:cNvPr id="8" name="Text 6"/>
          <p:cNvSpPr txBox="1"/>
          <p:nvPr/>
        </p:nvSpPr>
        <p:spPr>
          <a:xfrm>
            <a:off x="731520" y="3063240"/>
            <a:ext cx="1648297" cy="1554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Reddit 2,002 · Play Store 3,249 · App Store 1,300 across US, IN, GB, CA, AU</a:t>
            </a:r>
            <a:endParaRPr lang="en-US" sz="1400" dirty="0"/>
          </a:p>
        </p:txBody>
      </p:sp>
      <p:sp>
        <p:nvSpPr>
          <p:cNvPr id="9" name="Shape 7"/>
          <p:cNvSpPr/>
          <p:nvPr/>
        </p:nvSpPr>
        <p:spPr>
          <a:xfrm>
            <a:off x="2818729" y="1508760"/>
            <a:ext cx="2014057" cy="3200400"/>
          </a:xfrm>
          <a:prstGeom prst="roundRect">
            <a:avLst>
              <a:gd name="adj" fmla="val 5448"/>
            </a:avLst>
          </a:prstGeom>
          <a:solidFill>
            <a:srgbClr val="EEF2F6"/>
          </a:solidFill>
          <a:ln w="12700">
            <a:solidFill>
              <a:srgbClr val="EEF2F6"/>
            </a:solidFill>
            <a:prstDash val="solid"/>
          </a:ln>
        </p:spPr>
      </p:sp>
      <p:sp>
        <p:nvSpPr>
          <p:cNvPr id="10" name="Shape 8"/>
          <p:cNvSpPr/>
          <p:nvPr/>
        </p:nvSpPr>
        <p:spPr>
          <a:xfrm>
            <a:off x="3001609" y="1709928"/>
            <a:ext cx="438912" cy="438912"/>
          </a:xfrm>
          <a:prstGeom prst="ellipse">
            <a:avLst/>
          </a:prstGeom>
          <a:solidFill>
            <a:srgbClr val="2A78D6"/>
          </a:solidFill>
          <a:ln w="12700">
            <a:solidFill>
              <a:srgbClr val="2A78D6"/>
            </a:solidFill>
            <a:prstDash val="solid"/>
          </a:ln>
        </p:spPr>
      </p:sp>
      <p:sp>
        <p:nvSpPr>
          <p:cNvPr id="11" name="Text 9"/>
          <p:cNvSpPr txBox="1"/>
          <p:nvPr/>
        </p:nvSpPr>
        <p:spPr>
          <a:xfrm>
            <a:off x="3001609" y="1737360"/>
            <a:ext cx="438912"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2</a:t>
            </a:r>
            <a:endParaRPr lang="en-US" sz="1800" dirty="0"/>
          </a:p>
        </p:txBody>
      </p:sp>
      <p:sp>
        <p:nvSpPr>
          <p:cNvPr id="12" name="Text 10"/>
          <p:cNvSpPr txBox="1"/>
          <p:nvPr/>
        </p:nvSpPr>
        <p:spPr>
          <a:xfrm>
            <a:off x="3001609" y="2258568"/>
            <a:ext cx="1648297" cy="347472"/>
          </a:xfrm>
          <a:prstGeom prst="rect">
            <a:avLst/>
          </a:prstGeom>
          <a:noFill/>
          <a:ln/>
        </p:spPr>
        <p:txBody>
          <a:bodyPr wrap="square" lIns="0" tIns="0" rIns="0" bIns="0" rtlCol="0" anchor="t"/>
          <a:lstStyle/>
          <a:p>
            <a:pPr indent="0" marL="0">
              <a:buNone/>
            </a:pPr>
            <a:r>
              <a:rPr lang="en-US" sz="1800" b="1" dirty="0">
                <a:solidFill>
                  <a:srgbClr val="1C2530"/>
                </a:solidFill>
                <a:latin typeface="Roboto Slab" pitchFamily="34" charset="0"/>
                <a:ea typeface="Roboto Slab" pitchFamily="34" charset="-122"/>
                <a:cs typeface="Roboto Slab" pitchFamily="34" charset="-120"/>
              </a:rPr>
              <a:t>Filter</a:t>
            </a:r>
            <a:endParaRPr lang="en-US" sz="1800" dirty="0"/>
          </a:p>
        </p:txBody>
      </p:sp>
      <p:sp>
        <p:nvSpPr>
          <p:cNvPr id="13" name="Text 11"/>
          <p:cNvSpPr txBox="1"/>
          <p:nvPr/>
        </p:nvSpPr>
        <p:spPr>
          <a:xfrm>
            <a:off x="3001609" y="2642616"/>
            <a:ext cx="1648297" cy="365760"/>
          </a:xfrm>
          <a:prstGeom prst="rect">
            <a:avLst/>
          </a:prstGeom>
          <a:noFill/>
          <a:ln/>
        </p:spPr>
        <p:txBody>
          <a:bodyPr wrap="square" lIns="0" tIns="0" rIns="0" bIns="0" rtlCol="0" anchor="t"/>
          <a:lstStyle/>
          <a:p>
            <a:pPr indent="0" marL="0">
              <a:buNone/>
            </a:pPr>
            <a:r>
              <a:rPr lang="en-US" sz="1600" b="1" dirty="0">
                <a:solidFill>
                  <a:srgbClr val="1C5CAB"/>
                </a:solidFill>
                <a:latin typeface="Roboto" pitchFamily="34" charset="0"/>
                <a:ea typeface="Roboto" pitchFamily="34" charset="-122"/>
                <a:cs typeface="Roboto" pitchFamily="34" charset="-120"/>
              </a:rPr>
              <a:t>1,196 kept</a:t>
            </a:r>
            <a:endParaRPr lang="en-US" sz="1600" dirty="0"/>
          </a:p>
        </p:txBody>
      </p:sp>
      <p:sp>
        <p:nvSpPr>
          <p:cNvPr id="14" name="Text 12"/>
          <p:cNvSpPr txBox="1"/>
          <p:nvPr/>
        </p:nvSpPr>
        <p:spPr>
          <a:xfrm>
            <a:off x="3001609" y="3063240"/>
            <a:ext cx="1648297" cy="1554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Keyword gate drops storage, billing and praise-only posts before any AI spend</a:t>
            </a:r>
            <a:endParaRPr lang="en-US" sz="1400" dirty="0"/>
          </a:p>
        </p:txBody>
      </p:sp>
      <p:sp>
        <p:nvSpPr>
          <p:cNvPr id="15" name="Shape 13"/>
          <p:cNvSpPr/>
          <p:nvPr/>
        </p:nvSpPr>
        <p:spPr>
          <a:xfrm>
            <a:off x="5088819" y="1508760"/>
            <a:ext cx="2014057" cy="3200400"/>
          </a:xfrm>
          <a:prstGeom prst="roundRect">
            <a:avLst>
              <a:gd name="adj" fmla="val 5448"/>
            </a:avLst>
          </a:prstGeom>
          <a:solidFill>
            <a:srgbClr val="EEF2F6"/>
          </a:solidFill>
          <a:ln w="12700">
            <a:solidFill>
              <a:srgbClr val="EEF2F6"/>
            </a:solidFill>
            <a:prstDash val="solid"/>
          </a:ln>
        </p:spPr>
      </p:sp>
      <p:sp>
        <p:nvSpPr>
          <p:cNvPr id="16" name="Shape 14"/>
          <p:cNvSpPr/>
          <p:nvPr/>
        </p:nvSpPr>
        <p:spPr>
          <a:xfrm>
            <a:off x="5271699" y="1709928"/>
            <a:ext cx="438912" cy="438912"/>
          </a:xfrm>
          <a:prstGeom prst="ellipse">
            <a:avLst/>
          </a:prstGeom>
          <a:solidFill>
            <a:srgbClr val="2A78D6"/>
          </a:solidFill>
          <a:ln w="12700">
            <a:solidFill>
              <a:srgbClr val="2A78D6"/>
            </a:solidFill>
            <a:prstDash val="solid"/>
          </a:ln>
        </p:spPr>
      </p:sp>
      <p:sp>
        <p:nvSpPr>
          <p:cNvPr id="17" name="Text 15"/>
          <p:cNvSpPr txBox="1"/>
          <p:nvPr/>
        </p:nvSpPr>
        <p:spPr>
          <a:xfrm>
            <a:off x="5271699" y="1737360"/>
            <a:ext cx="438912"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3</a:t>
            </a:r>
            <a:endParaRPr lang="en-US" sz="1800" dirty="0"/>
          </a:p>
        </p:txBody>
      </p:sp>
      <p:sp>
        <p:nvSpPr>
          <p:cNvPr id="18" name="Text 16"/>
          <p:cNvSpPr txBox="1"/>
          <p:nvPr/>
        </p:nvSpPr>
        <p:spPr>
          <a:xfrm>
            <a:off x="5271699" y="2258568"/>
            <a:ext cx="1648297" cy="347472"/>
          </a:xfrm>
          <a:prstGeom prst="rect">
            <a:avLst/>
          </a:prstGeom>
          <a:noFill/>
          <a:ln/>
        </p:spPr>
        <p:txBody>
          <a:bodyPr wrap="square" lIns="0" tIns="0" rIns="0" bIns="0" rtlCol="0" anchor="t"/>
          <a:lstStyle/>
          <a:p>
            <a:pPr indent="0" marL="0">
              <a:buNone/>
            </a:pPr>
            <a:r>
              <a:rPr lang="en-US" sz="1800" b="1" dirty="0">
                <a:solidFill>
                  <a:srgbClr val="1C2530"/>
                </a:solidFill>
                <a:latin typeface="Roboto Slab" pitchFamily="34" charset="0"/>
                <a:ea typeface="Roboto Slab" pitchFamily="34" charset="-122"/>
                <a:cs typeface="Roboto Slab" pitchFamily="34" charset="-120"/>
              </a:rPr>
              <a:t>Extract</a:t>
            </a:r>
            <a:endParaRPr lang="en-US" sz="1800" dirty="0"/>
          </a:p>
        </p:txBody>
      </p:sp>
      <p:sp>
        <p:nvSpPr>
          <p:cNvPr id="19" name="Text 17"/>
          <p:cNvSpPr txBox="1"/>
          <p:nvPr/>
        </p:nvSpPr>
        <p:spPr>
          <a:xfrm>
            <a:off x="5271699" y="2642616"/>
            <a:ext cx="1648297" cy="365760"/>
          </a:xfrm>
          <a:prstGeom prst="rect">
            <a:avLst/>
          </a:prstGeom>
          <a:noFill/>
          <a:ln/>
        </p:spPr>
        <p:txBody>
          <a:bodyPr wrap="square" lIns="0" tIns="0" rIns="0" bIns="0" rtlCol="0" anchor="t"/>
          <a:lstStyle/>
          <a:p>
            <a:pPr indent="0" marL="0">
              <a:buNone/>
            </a:pPr>
            <a:r>
              <a:rPr lang="en-US" sz="1600" b="1" dirty="0">
                <a:solidFill>
                  <a:srgbClr val="1C5CAB"/>
                </a:solidFill>
                <a:latin typeface="Roboto" pitchFamily="34" charset="0"/>
                <a:ea typeface="Roboto" pitchFamily="34" charset="-122"/>
                <a:cs typeface="Roboto" pitchFamily="34" charset="-120"/>
              </a:rPr>
              <a:t>15-field schema</a:t>
            </a:r>
            <a:endParaRPr lang="en-US" sz="1600" dirty="0"/>
          </a:p>
        </p:txBody>
      </p:sp>
      <p:sp>
        <p:nvSpPr>
          <p:cNvPr id="20" name="Text 18"/>
          <p:cNvSpPr txBox="1"/>
          <p:nvPr/>
        </p:nvSpPr>
        <p:spPr>
          <a:xfrm>
            <a:off x="5271699" y="3063240"/>
            <a:ext cx="1648297" cy="1554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Gemini structured output per post: photo type, cues remembered vs forgotten, failure stage, workaround, verbatim quote</a:t>
            </a:r>
            <a:endParaRPr lang="en-US" sz="1400" dirty="0"/>
          </a:p>
        </p:txBody>
      </p:sp>
      <p:sp>
        <p:nvSpPr>
          <p:cNvPr id="21" name="Shape 19"/>
          <p:cNvSpPr/>
          <p:nvPr/>
        </p:nvSpPr>
        <p:spPr>
          <a:xfrm>
            <a:off x="7358908" y="1508760"/>
            <a:ext cx="2014057" cy="3200400"/>
          </a:xfrm>
          <a:prstGeom prst="roundRect">
            <a:avLst>
              <a:gd name="adj" fmla="val 5448"/>
            </a:avLst>
          </a:prstGeom>
          <a:solidFill>
            <a:srgbClr val="EEF2F6"/>
          </a:solidFill>
          <a:ln w="12700">
            <a:solidFill>
              <a:srgbClr val="EEF2F6"/>
            </a:solidFill>
            <a:prstDash val="solid"/>
          </a:ln>
        </p:spPr>
      </p:sp>
      <p:sp>
        <p:nvSpPr>
          <p:cNvPr id="22" name="Shape 20"/>
          <p:cNvSpPr/>
          <p:nvPr/>
        </p:nvSpPr>
        <p:spPr>
          <a:xfrm>
            <a:off x="7541788" y="1709928"/>
            <a:ext cx="438912" cy="438912"/>
          </a:xfrm>
          <a:prstGeom prst="ellipse">
            <a:avLst/>
          </a:prstGeom>
          <a:solidFill>
            <a:srgbClr val="2A78D6"/>
          </a:solidFill>
          <a:ln w="12700">
            <a:solidFill>
              <a:srgbClr val="2A78D6"/>
            </a:solidFill>
            <a:prstDash val="solid"/>
          </a:ln>
        </p:spPr>
      </p:sp>
      <p:sp>
        <p:nvSpPr>
          <p:cNvPr id="23" name="Text 21"/>
          <p:cNvSpPr txBox="1"/>
          <p:nvPr/>
        </p:nvSpPr>
        <p:spPr>
          <a:xfrm>
            <a:off x="7541788" y="1737360"/>
            <a:ext cx="438912"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4</a:t>
            </a:r>
            <a:endParaRPr lang="en-US" sz="1800" dirty="0"/>
          </a:p>
        </p:txBody>
      </p:sp>
      <p:sp>
        <p:nvSpPr>
          <p:cNvPr id="24" name="Text 22"/>
          <p:cNvSpPr txBox="1"/>
          <p:nvPr/>
        </p:nvSpPr>
        <p:spPr>
          <a:xfrm>
            <a:off x="7541788" y="2258568"/>
            <a:ext cx="1648297" cy="347472"/>
          </a:xfrm>
          <a:prstGeom prst="rect">
            <a:avLst/>
          </a:prstGeom>
          <a:noFill/>
          <a:ln/>
        </p:spPr>
        <p:txBody>
          <a:bodyPr wrap="square" lIns="0" tIns="0" rIns="0" bIns="0" rtlCol="0" anchor="t"/>
          <a:lstStyle/>
          <a:p>
            <a:pPr indent="0" marL="0">
              <a:buNone/>
            </a:pPr>
            <a:r>
              <a:rPr lang="en-US" sz="1800" b="1" dirty="0">
                <a:solidFill>
                  <a:srgbClr val="1C2530"/>
                </a:solidFill>
                <a:latin typeface="Roboto Slab" pitchFamily="34" charset="0"/>
                <a:ea typeface="Roboto Slab" pitchFamily="34" charset="-122"/>
                <a:cs typeface="Roboto Slab" pitchFamily="34" charset="-120"/>
              </a:rPr>
              <a:t>Classify</a:t>
            </a:r>
            <a:endParaRPr lang="en-US" sz="1800" dirty="0"/>
          </a:p>
        </p:txBody>
      </p:sp>
      <p:sp>
        <p:nvSpPr>
          <p:cNvPr id="25" name="Text 23"/>
          <p:cNvSpPr txBox="1"/>
          <p:nvPr/>
        </p:nvSpPr>
        <p:spPr>
          <a:xfrm>
            <a:off x="7541788" y="2642616"/>
            <a:ext cx="1648297" cy="365760"/>
          </a:xfrm>
          <a:prstGeom prst="rect">
            <a:avLst/>
          </a:prstGeom>
          <a:noFill/>
          <a:ln/>
        </p:spPr>
        <p:txBody>
          <a:bodyPr wrap="square" lIns="0" tIns="0" rIns="0" bIns="0" rtlCol="0" anchor="t"/>
          <a:lstStyle/>
          <a:p>
            <a:pPr indent="0" marL="0">
              <a:buNone/>
            </a:pPr>
            <a:r>
              <a:rPr lang="en-US" sz="1600" b="1" dirty="0">
                <a:solidFill>
                  <a:srgbClr val="1C5CAB"/>
                </a:solidFill>
                <a:latin typeface="Roboto" pitchFamily="34" charset="0"/>
                <a:ea typeface="Roboto" pitchFamily="34" charset="-122"/>
                <a:cs typeface="Roboto" pitchFamily="34" charset="-120"/>
              </a:rPr>
              <a:t>84 core cases</a:t>
            </a:r>
            <a:endParaRPr lang="en-US" sz="1600" dirty="0"/>
          </a:p>
        </p:txBody>
      </p:sp>
      <p:sp>
        <p:nvSpPr>
          <p:cNvPr id="26" name="Text 24"/>
          <p:cNvSpPr txBox="1"/>
          <p:nvPr/>
        </p:nvSpPr>
        <p:spPr>
          <a:xfrm>
            <a:off x="7541788" y="3063240"/>
            <a:ext cx="1648297" cy="1554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Second pass separates true vague-memory failures from UI regressions (95) and data loss (28)</a:t>
            </a:r>
            <a:endParaRPr lang="en-US" sz="1400" dirty="0"/>
          </a:p>
        </p:txBody>
      </p:sp>
      <p:sp>
        <p:nvSpPr>
          <p:cNvPr id="27" name="Shape 25"/>
          <p:cNvSpPr/>
          <p:nvPr/>
        </p:nvSpPr>
        <p:spPr>
          <a:xfrm>
            <a:off x="9628998" y="1508760"/>
            <a:ext cx="2014057" cy="3200400"/>
          </a:xfrm>
          <a:prstGeom prst="roundRect">
            <a:avLst>
              <a:gd name="adj" fmla="val 5448"/>
            </a:avLst>
          </a:prstGeom>
          <a:solidFill>
            <a:srgbClr val="EEF2F6"/>
          </a:solidFill>
          <a:ln w="12700">
            <a:solidFill>
              <a:srgbClr val="EEF2F6"/>
            </a:solidFill>
            <a:prstDash val="solid"/>
          </a:ln>
        </p:spPr>
      </p:sp>
      <p:sp>
        <p:nvSpPr>
          <p:cNvPr id="28" name="Shape 26"/>
          <p:cNvSpPr/>
          <p:nvPr/>
        </p:nvSpPr>
        <p:spPr>
          <a:xfrm>
            <a:off x="9811878" y="1709928"/>
            <a:ext cx="438912" cy="438912"/>
          </a:xfrm>
          <a:prstGeom prst="ellipse">
            <a:avLst/>
          </a:prstGeom>
          <a:solidFill>
            <a:srgbClr val="2A78D6"/>
          </a:solidFill>
          <a:ln w="12700">
            <a:solidFill>
              <a:srgbClr val="2A78D6"/>
            </a:solidFill>
            <a:prstDash val="solid"/>
          </a:ln>
        </p:spPr>
      </p:sp>
      <p:sp>
        <p:nvSpPr>
          <p:cNvPr id="29" name="Text 27"/>
          <p:cNvSpPr txBox="1"/>
          <p:nvPr/>
        </p:nvSpPr>
        <p:spPr>
          <a:xfrm>
            <a:off x="9811878" y="1737360"/>
            <a:ext cx="438912"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Roboto" pitchFamily="34" charset="0"/>
                <a:ea typeface="Roboto" pitchFamily="34" charset="-122"/>
                <a:cs typeface="Roboto" pitchFamily="34" charset="-120"/>
              </a:rPr>
              <a:t>5</a:t>
            </a:r>
            <a:endParaRPr lang="en-US" sz="1800" dirty="0"/>
          </a:p>
        </p:txBody>
      </p:sp>
      <p:sp>
        <p:nvSpPr>
          <p:cNvPr id="30" name="Text 28"/>
          <p:cNvSpPr txBox="1"/>
          <p:nvPr/>
        </p:nvSpPr>
        <p:spPr>
          <a:xfrm>
            <a:off x="9811878" y="2258568"/>
            <a:ext cx="1648297" cy="347472"/>
          </a:xfrm>
          <a:prstGeom prst="rect">
            <a:avLst/>
          </a:prstGeom>
          <a:noFill/>
          <a:ln/>
        </p:spPr>
        <p:txBody>
          <a:bodyPr wrap="square" lIns="0" tIns="0" rIns="0" bIns="0" rtlCol="0" anchor="t"/>
          <a:lstStyle/>
          <a:p>
            <a:pPr indent="0" marL="0">
              <a:buNone/>
            </a:pPr>
            <a:r>
              <a:rPr lang="en-US" sz="1800" b="1" dirty="0">
                <a:solidFill>
                  <a:srgbClr val="1C2530"/>
                </a:solidFill>
                <a:latin typeface="Roboto Slab" pitchFamily="34" charset="0"/>
                <a:ea typeface="Roboto Slab" pitchFamily="34" charset="-122"/>
                <a:cs typeface="Roboto Slab" pitchFamily="34" charset="-120"/>
              </a:rPr>
              <a:t>Compare &amp; ask</a:t>
            </a:r>
            <a:endParaRPr lang="en-US" sz="1800" dirty="0"/>
          </a:p>
        </p:txBody>
      </p:sp>
      <p:sp>
        <p:nvSpPr>
          <p:cNvPr id="31" name="Text 29"/>
          <p:cNvSpPr txBox="1"/>
          <p:nvPr/>
        </p:nvSpPr>
        <p:spPr>
          <a:xfrm>
            <a:off x="9811878" y="2642616"/>
            <a:ext cx="1648297" cy="365760"/>
          </a:xfrm>
          <a:prstGeom prst="rect">
            <a:avLst/>
          </a:prstGeom>
          <a:noFill/>
          <a:ln/>
        </p:spPr>
        <p:txBody>
          <a:bodyPr wrap="square" lIns="0" tIns="0" rIns="0" bIns="0" rtlCol="0" anchor="t"/>
          <a:lstStyle/>
          <a:p>
            <a:pPr indent="0" marL="0">
              <a:buNone/>
            </a:pPr>
            <a:r>
              <a:rPr lang="en-US" sz="1600" b="1" dirty="0">
                <a:solidFill>
                  <a:srgbClr val="1C5CAB"/>
                </a:solidFill>
                <a:latin typeface="Roboto" pitchFamily="34" charset="0"/>
                <a:ea typeface="Roboto" pitchFamily="34" charset="-122"/>
                <a:cs typeface="Roboto" pitchFamily="34" charset="-120"/>
              </a:rPr>
              <a:t>Live tool</a:t>
            </a:r>
            <a:endParaRPr lang="en-US" sz="1600" dirty="0"/>
          </a:p>
        </p:txBody>
      </p:sp>
      <p:sp>
        <p:nvSpPr>
          <p:cNvPr id="32" name="Text 30"/>
          <p:cNvSpPr txBox="1"/>
          <p:nvPr/>
        </p:nvSpPr>
        <p:spPr>
          <a:xfrm>
            <a:off x="9811878" y="3063240"/>
            <a:ext cx="1648297" cy="1554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Cross-tab any segment; ask a question, get an answer grounded in cited quotes</a:t>
            </a:r>
            <a:endParaRPr lang="en-US" sz="1400" dirty="0"/>
          </a:p>
        </p:txBody>
      </p:sp>
      <p:sp>
        <p:nvSpPr>
          <p:cNvPr id="33" name="Shape 31"/>
          <p:cNvSpPr/>
          <p:nvPr/>
        </p:nvSpPr>
        <p:spPr>
          <a:xfrm>
            <a:off x="548640" y="4983480"/>
            <a:ext cx="11094415" cy="1005840"/>
          </a:xfrm>
          <a:prstGeom prst="roundRect">
            <a:avLst>
              <a:gd name="adj" fmla="val 10909"/>
            </a:avLst>
          </a:prstGeom>
          <a:solidFill>
            <a:srgbClr val="14213D"/>
          </a:solidFill>
          <a:ln w="12700">
            <a:solidFill>
              <a:srgbClr val="14213D"/>
            </a:solidFill>
            <a:prstDash val="solid"/>
          </a:ln>
        </p:spPr>
      </p:sp>
      <p:sp>
        <p:nvSpPr>
          <p:cNvPr id="34" name="Text 32"/>
          <p:cNvSpPr txBox="1"/>
          <p:nvPr/>
        </p:nvSpPr>
        <p:spPr>
          <a:xfrm>
            <a:off x="822960" y="5084064"/>
            <a:ext cx="10545775" cy="822960"/>
          </a:xfrm>
          <a:prstGeom prst="rect">
            <a:avLst/>
          </a:prstGeom>
          <a:noFill/>
          <a:ln/>
        </p:spPr>
        <p:txBody>
          <a:bodyPr wrap="square" lIns="0" tIns="0" rIns="0" bIns="0" rtlCol="0" anchor="ctr"/>
          <a:lstStyle/>
          <a:p>
            <a:pPr indent="0" marL="0">
              <a:buNone/>
            </a:pPr>
            <a:r>
              <a:rPr lang="en-US" sz="1600" b="1" dirty="0">
                <a:solidFill>
                  <a:srgbClr val="9FB3CC"/>
                </a:solidFill>
                <a:latin typeface="Roboto" pitchFamily="34" charset="0"/>
                <a:ea typeface="Roboto" pitchFamily="34" charset="-122"/>
                <a:cs typeface="Roboto" pitchFamily="34" charset="-120"/>
              </a:rPr>
              <a:t>Why this is more than sentiment analysis:  </a:t>
            </a:r>
            <a:pPr indent="0" marL="0">
              <a:buNone/>
            </a:pPr>
            <a:r>
              <a:rPr lang="en-US" sz="1600" dirty="0">
                <a:solidFill>
                  <a:srgbClr val="FFFFFF"/>
                </a:solidFill>
                <a:latin typeface="Roboto" pitchFamily="34" charset="0"/>
                <a:ea typeface="Roboto" pitchFamily="34" charset="-122"/>
                <a:cs typeface="Roboto" pitchFamily="34" charset="-120"/>
              </a:rPr>
              <a:t>every post is tagged against the retrieval journey, so failure modes can be counted and cross-tabbed by photo type, cue and workaround. Every claim traces back to a quote.   </a:t>
            </a:r>
            <a:pPr indent="0" marL="0">
              <a:buNone/>
            </a:pPr>
            <a:r>
              <a:rPr lang="en-US" sz="1600" b="1" u="sng" dirty="0">
                <a:solidFill>
                  <a:srgbClr val="FFFFFF"/>
                </a:solidFill>
                <a:latin typeface="Roboto" pitchFamily="34" charset="0"/>
                <a:ea typeface="Roboto" pitchFamily="34" charset="-122"/>
                <a:cs typeface="Robo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Try it live →</a:t>
            </a:r>
            <a:endParaRPr lang="en-US" sz="1600" dirty="0"/>
          </a:p>
        </p:txBody>
      </p:sp>
      <p:sp>
        <p:nvSpPr>
          <p:cNvPr id="35" name="Text 33"/>
          <p:cNvSpPr txBox="1"/>
          <p:nvPr/>
        </p:nvSpPr>
        <p:spPr>
          <a:xfrm>
            <a:off x="548640" y="6382512"/>
            <a:ext cx="11094415" cy="301752"/>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Built entirely on free tiers: open-source scrapers → Python → Gemini (JSON schema) → Streamlit Cloud.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The engine's verdict: 82% of failures were a fair clue the app misread</a:t>
            </a:r>
            <a:endParaRPr lang="en-US" sz="2500" dirty="0"/>
          </a:p>
        </p:txBody>
      </p:sp>
      <p:sp>
        <p:nvSpPr>
          <p:cNvPr id="3" name="Text 1"/>
          <p:cNvSpPr txBox="1"/>
          <p:nvPr/>
        </p:nvSpPr>
        <p:spPr>
          <a:xfrm>
            <a:off x="548640" y="1298448"/>
            <a:ext cx="6126480" cy="32004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What 84 users with a genuine vague-memory failure remembered, and what they'd lost</a:t>
            </a:r>
            <a:endParaRPr lang="en-US" sz="1500" dirty="0"/>
          </a:p>
        </p:txBody>
      </p:sp>
      <p:sp>
        <p:nvSpPr>
          <p:cNvPr id="4" name="Shape 2"/>
          <p:cNvSpPr/>
          <p:nvPr/>
        </p:nvSpPr>
        <p:spPr>
          <a:xfrm>
            <a:off x="548640" y="1719072"/>
            <a:ext cx="219456" cy="146304"/>
          </a:xfrm>
          <a:prstGeom prst="rect">
            <a:avLst/>
          </a:prstGeom>
          <a:solidFill>
            <a:srgbClr val="2A78D6"/>
          </a:solidFill>
          <a:ln w="12700">
            <a:solidFill>
              <a:srgbClr val="2A78D6"/>
            </a:solidFill>
            <a:prstDash val="solid"/>
          </a:ln>
        </p:spPr>
      </p:sp>
      <p:sp>
        <p:nvSpPr>
          <p:cNvPr id="5" name="Text 3"/>
          <p:cNvSpPr txBox="1"/>
          <p:nvPr/>
        </p:nvSpPr>
        <p:spPr>
          <a:xfrm>
            <a:off x="850392" y="1673352"/>
            <a:ext cx="1188720" cy="256032"/>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Remembered</a:t>
            </a:r>
            <a:endParaRPr lang="en-US" sz="1400" dirty="0"/>
          </a:p>
        </p:txBody>
      </p:sp>
      <p:sp>
        <p:nvSpPr>
          <p:cNvPr id="6" name="Shape 4"/>
          <p:cNvSpPr/>
          <p:nvPr/>
        </p:nvSpPr>
        <p:spPr>
          <a:xfrm>
            <a:off x="2148840" y="1719072"/>
            <a:ext cx="219456" cy="146304"/>
          </a:xfrm>
          <a:prstGeom prst="rect">
            <a:avLst/>
          </a:prstGeom>
          <a:solidFill>
            <a:srgbClr val="EB6834"/>
          </a:solidFill>
          <a:ln w="12700">
            <a:solidFill>
              <a:srgbClr val="EB6834"/>
            </a:solidFill>
            <a:prstDash val="solid"/>
          </a:ln>
        </p:spPr>
      </p:sp>
      <p:sp>
        <p:nvSpPr>
          <p:cNvPr id="7" name="Text 5"/>
          <p:cNvSpPr txBox="1"/>
          <p:nvPr/>
        </p:nvSpPr>
        <p:spPr>
          <a:xfrm>
            <a:off x="2450592" y="1673352"/>
            <a:ext cx="1188720" cy="256032"/>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Forgotten</a:t>
            </a:r>
            <a:endParaRPr lang="en-US" sz="1400" dirty="0"/>
          </a:p>
        </p:txBody>
      </p:sp>
      <p:sp>
        <p:nvSpPr>
          <p:cNvPr id="8" name="Text 6"/>
          <p:cNvSpPr txBox="1"/>
          <p:nvPr/>
        </p:nvSpPr>
        <p:spPr>
          <a:xfrm>
            <a:off x="548640" y="2157984"/>
            <a:ext cx="1783080" cy="45720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Words in the photo</a:t>
            </a:r>
            <a:endParaRPr lang="en-US" sz="1400" dirty="0"/>
          </a:p>
        </p:txBody>
      </p:sp>
      <p:sp>
        <p:nvSpPr>
          <p:cNvPr id="9" name="Shape 7"/>
          <p:cNvSpPr/>
          <p:nvPr/>
        </p:nvSpPr>
        <p:spPr>
          <a:xfrm>
            <a:off x="2423160" y="2084832"/>
            <a:ext cx="3561588" cy="237744"/>
          </a:xfrm>
          <a:prstGeom prst="rect">
            <a:avLst/>
          </a:prstGeom>
          <a:solidFill>
            <a:srgbClr val="2A78D6"/>
          </a:solidFill>
          <a:ln w="12700">
            <a:solidFill>
              <a:srgbClr val="2A78D6"/>
            </a:solidFill>
            <a:prstDash val="solid"/>
          </a:ln>
        </p:spPr>
      </p:sp>
      <p:sp>
        <p:nvSpPr>
          <p:cNvPr id="10" name="Text 8"/>
          <p:cNvSpPr txBox="1"/>
          <p:nvPr/>
        </p:nvSpPr>
        <p:spPr>
          <a:xfrm>
            <a:off x="6057900" y="2066544"/>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19</a:t>
            </a:r>
            <a:endParaRPr lang="en-US" sz="1400" dirty="0"/>
          </a:p>
        </p:txBody>
      </p:sp>
      <p:sp>
        <p:nvSpPr>
          <p:cNvPr id="11" name="Text 9"/>
          <p:cNvSpPr txBox="1"/>
          <p:nvPr/>
        </p:nvSpPr>
        <p:spPr>
          <a:xfrm>
            <a:off x="2496312" y="2350008"/>
            <a:ext cx="411480" cy="274320"/>
          </a:xfrm>
          <a:prstGeom prst="rect">
            <a:avLst/>
          </a:prstGeom>
          <a:noFill/>
          <a:ln/>
        </p:spPr>
        <p:txBody>
          <a:bodyPr wrap="square" lIns="0" tIns="0" rIns="0" bIns="0" rtlCol="0" anchor="t"/>
          <a:lstStyle/>
          <a:p>
            <a:pPr indent="0" marL="0">
              <a:buNone/>
            </a:pPr>
            <a:r>
              <a:rPr lang="en-US" sz="1400" b="1" dirty="0">
                <a:solidFill>
                  <a:srgbClr val="4E5A67"/>
                </a:solidFill>
                <a:latin typeface="Roboto" pitchFamily="34" charset="0"/>
                <a:ea typeface="Roboto" pitchFamily="34" charset="-122"/>
                <a:cs typeface="Roboto" pitchFamily="34" charset="-120"/>
              </a:rPr>
              <a:t>0</a:t>
            </a:r>
            <a:endParaRPr lang="en-US" sz="1400" dirty="0"/>
          </a:p>
        </p:txBody>
      </p:sp>
      <p:sp>
        <p:nvSpPr>
          <p:cNvPr id="12" name="Text 10"/>
          <p:cNvSpPr txBox="1"/>
          <p:nvPr/>
        </p:nvSpPr>
        <p:spPr>
          <a:xfrm>
            <a:off x="548640" y="2825496"/>
            <a:ext cx="1783080" cy="45720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Visual detail</a:t>
            </a:r>
            <a:endParaRPr lang="en-US" sz="1400" dirty="0"/>
          </a:p>
        </p:txBody>
      </p:sp>
      <p:sp>
        <p:nvSpPr>
          <p:cNvPr id="13" name="Shape 11"/>
          <p:cNvSpPr/>
          <p:nvPr/>
        </p:nvSpPr>
        <p:spPr>
          <a:xfrm>
            <a:off x="2423160" y="2752344"/>
            <a:ext cx="2999232" cy="237744"/>
          </a:xfrm>
          <a:prstGeom prst="rect">
            <a:avLst/>
          </a:prstGeom>
          <a:solidFill>
            <a:srgbClr val="2A78D6"/>
          </a:solidFill>
          <a:ln w="12700">
            <a:solidFill>
              <a:srgbClr val="2A78D6"/>
            </a:solidFill>
            <a:prstDash val="solid"/>
          </a:ln>
        </p:spPr>
      </p:sp>
      <p:sp>
        <p:nvSpPr>
          <p:cNvPr id="14" name="Text 12"/>
          <p:cNvSpPr txBox="1"/>
          <p:nvPr/>
        </p:nvSpPr>
        <p:spPr>
          <a:xfrm>
            <a:off x="5495544" y="2734056"/>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16</a:t>
            </a:r>
            <a:endParaRPr lang="en-US" sz="1400" dirty="0"/>
          </a:p>
        </p:txBody>
      </p:sp>
      <p:sp>
        <p:nvSpPr>
          <p:cNvPr id="15" name="Shape 13"/>
          <p:cNvSpPr/>
          <p:nvPr/>
        </p:nvSpPr>
        <p:spPr>
          <a:xfrm>
            <a:off x="2423160" y="3035808"/>
            <a:ext cx="749808" cy="237744"/>
          </a:xfrm>
          <a:prstGeom prst="rect">
            <a:avLst/>
          </a:prstGeom>
          <a:solidFill>
            <a:srgbClr val="EB6834"/>
          </a:solidFill>
          <a:ln w="12700">
            <a:solidFill>
              <a:srgbClr val="EB6834"/>
            </a:solidFill>
            <a:prstDash val="solid"/>
          </a:ln>
        </p:spPr>
      </p:sp>
      <p:sp>
        <p:nvSpPr>
          <p:cNvPr id="16" name="Text 14"/>
          <p:cNvSpPr txBox="1"/>
          <p:nvPr/>
        </p:nvSpPr>
        <p:spPr>
          <a:xfrm>
            <a:off x="3246120" y="3017520"/>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4</a:t>
            </a:r>
            <a:endParaRPr lang="en-US" sz="1400" dirty="0"/>
          </a:p>
        </p:txBody>
      </p:sp>
      <p:sp>
        <p:nvSpPr>
          <p:cNvPr id="17" name="Text 15"/>
          <p:cNvSpPr txBox="1"/>
          <p:nvPr/>
        </p:nvSpPr>
        <p:spPr>
          <a:xfrm>
            <a:off x="548640" y="3493008"/>
            <a:ext cx="1783080" cy="45720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Roughly when</a:t>
            </a:r>
            <a:endParaRPr lang="en-US" sz="1400" dirty="0"/>
          </a:p>
        </p:txBody>
      </p:sp>
      <p:sp>
        <p:nvSpPr>
          <p:cNvPr id="18" name="Shape 16"/>
          <p:cNvSpPr/>
          <p:nvPr/>
        </p:nvSpPr>
        <p:spPr>
          <a:xfrm>
            <a:off x="2423160" y="3419856"/>
            <a:ext cx="1312164" cy="237744"/>
          </a:xfrm>
          <a:prstGeom prst="rect">
            <a:avLst/>
          </a:prstGeom>
          <a:solidFill>
            <a:srgbClr val="2A78D6"/>
          </a:solidFill>
          <a:ln w="12700">
            <a:solidFill>
              <a:srgbClr val="2A78D6"/>
            </a:solidFill>
            <a:prstDash val="solid"/>
          </a:ln>
        </p:spPr>
      </p:sp>
      <p:sp>
        <p:nvSpPr>
          <p:cNvPr id="19" name="Text 17"/>
          <p:cNvSpPr txBox="1"/>
          <p:nvPr/>
        </p:nvSpPr>
        <p:spPr>
          <a:xfrm>
            <a:off x="3808476" y="3401568"/>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7</a:t>
            </a:r>
            <a:endParaRPr lang="en-US" sz="1400" dirty="0"/>
          </a:p>
        </p:txBody>
      </p:sp>
      <p:sp>
        <p:nvSpPr>
          <p:cNvPr id="20" name="Shape 18"/>
          <p:cNvSpPr/>
          <p:nvPr/>
        </p:nvSpPr>
        <p:spPr>
          <a:xfrm>
            <a:off x="2423160" y="3703320"/>
            <a:ext cx="2999232" cy="237744"/>
          </a:xfrm>
          <a:prstGeom prst="rect">
            <a:avLst/>
          </a:prstGeom>
          <a:solidFill>
            <a:srgbClr val="EB6834"/>
          </a:solidFill>
          <a:ln w="12700">
            <a:solidFill>
              <a:srgbClr val="EB6834"/>
            </a:solidFill>
            <a:prstDash val="solid"/>
          </a:ln>
        </p:spPr>
      </p:sp>
      <p:sp>
        <p:nvSpPr>
          <p:cNvPr id="21" name="Text 19"/>
          <p:cNvSpPr txBox="1"/>
          <p:nvPr/>
        </p:nvSpPr>
        <p:spPr>
          <a:xfrm>
            <a:off x="5495544" y="3685032"/>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16</a:t>
            </a:r>
            <a:endParaRPr lang="en-US" sz="1400" dirty="0"/>
          </a:p>
        </p:txBody>
      </p:sp>
      <p:sp>
        <p:nvSpPr>
          <p:cNvPr id="22" name="Text 20"/>
          <p:cNvSpPr txBox="1"/>
          <p:nvPr/>
        </p:nvSpPr>
        <p:spPr>
          <a:xfrm>
            <a:off x="548640" y="4160520"/>
            <a:ext cx="1783080" cy="45720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Who was there</a:t>
            </a:r>
            <a:endParaRPr lang="en-US" sz="1400" dirty="0"/>
          </a:p>
        </p:txBody>
      </p:sp>
      <p:sp>
        <p:nvSpPr>
          <p:cNvPr id="23" name="Shape 21"/>
          <p:cNvSpPr/>
          <p:nvPr/>
        </p:nvSpPr>
        <p:spPr>
          <a:xfrm>
            <a:off x="2423160" y="4087368"/>
            <a:ext cx="1124712" cy="237744"/>
          </a:xfrm>
          <a:prstGeom prst="rect">
            <a:avLst/>
          </a:prstGeom>
          <a:solidFill>
            <a:srgbClr val="2A78D6"/>
          </a:solidFill>
          <a:ln w="12700">
            <a:solidFill>
              <a:srgbClr val="2A78D6"/>
            </a:solidFill>
            <a:prstDash val="solid"/>
          </a:ln>
        </p:spPr>
      </p:sp>
      <p:sp>
        <p:nvSpPr>
          <p:cNvPr id="24" name="Text 22"/>
          <p:cNvSpPr txBox="1"/>
          <p:nvPr/>
        </p:nvSpPr>
        <p:spPr>
          <a:xfrm>
            <a:off x="3621024" y="4069080"/>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6</a:t>
            </a:r>
            <a:endParaRPr lang="en-US" sz="1400" dirty="0"/>
          </a:p>
        </p:txBody>
      </p:sp>
      <p:sp>
        <p:nvSpPr>
          <p:cNvPr id="25" name="Shape 23"/>
          <p:cNvSpPr/>
          <p:nvPr/>
        </p:nvSpPr>
        <p:spPr>
          <a:xfrm>
            <a:off x="2423160" y="4370832"/>
            <a:ext cx="187452" cy="237744"/>
          </a:xfrm>
          <a:prstGeom prst="rect">
            <a:avLst/>
          </a:prstGeom>
          <a:solidFill>
            <a:srgbClr val="EB6834"/>
          </a:solidFill>
          <a:ln w="12700">
            <a:solidFill>
              <a:srgbClr val="EB6834"/>
            </a:solidFill>
            <a:prstDash val="solid"/>
          </a:ln>
        </p:spPr>
      </p:sp>
      <p:sp>
        <p:nvSpPr>
          <p:cNvPr id="26" name="Text 24"/>
          <p:cNvSpPr txBox="1"/>
          <p:nvPr/>
        </p:nvSpPr>
        <p:spPr>
          <a:xfrm>
            <a:off x="2683764" y="4352544"/>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1</a:t>
            </a:r>
            <a:endParaRPr lang="en-US" sz="1400" dirty="0"/>
          </a:p>
        </p:txBody>
      </p:sp>
      <p:sp>
        <p:nvSpPr>
          <p:cNvPr id="27" name="Text 25"/>
          <p:cNvSpPr txBox="1"/>
          <p:nvPr/>
        </p:nvSpPr>
        <p:spPr>
          <a:xfrm>
            <a:off x="548640" y="4828032"/>
            <a:ext cx="1783080" cy="45720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Exact date</a:t>
            </a:r>
            <a:endParaRPr lang="en-US" sz="1400" dirty="0"/>
          </a:p>
        </p:txBody>
      </p:sp>
      <p:sp>
        <p:nvSpPr>
          <p:cNvPr id="28" name="Shape 26"/>
          <p:cNvSpPr/>
          <p:nvPr/>
        </p:nvSpPr>
        <p:spPr>
          <a:xfrm>
            <a:off x="2423160" y="4754880"/>
            <a:ext cx="749808" cy="237744"/>
          </a:xfrm>
          <a:prstGeom prst="rect">
            <a:avLst/>
          </a:prstGeom>
          <a:solidFill>
            <a:srgbClr val="2A78D6"/>
          </a:solidFill>
          <a:ln w="12700">
            <a:solidFill>
              <a:srgbClr val="2A78D6"/>
            </a:solidFill>
            <a:prstDash val="solid"/>
          </a:ln>
        </p:spPr>
      </p:sp>
      <p:sp>
        <p:nvSpPr>
          <p:cNvPr id="29" name="Text 27"/>
          <p:cNvSpPr txBox="1"/>
          <p:nvPr/>
        </p:nvSpPr>
        <p:spPr>
          <a:xfrm>
            <a:off x="3246120" y="4736592"/>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4</a:t>
            </a:r>
            <a:endParaRPr lang="en-US" sz="1400" dirty="0"/>
          </a:p>
        </p:txBody>
      </p:sp>
      <p:sp>
        <p:nvSpPr>
          <p:cNvPr id="30" name="Shape 28"/>
          <p:cNvSpPr/>
          <p:nvPr/>
        </p:nvSpPr>
        <p:spPr>
          <a:xfrm>
            <a:off x="2423160" y="5038344"/>
            <a:ext cx="1499616" cy="237744"/>
          </a:xfrm>
          <a:prstGeom prst="rect">
            <a:avLst/>
          </a:prstGeom>
          <a:solidFill>
            <a:srgbClr val="EB6834"/>
          </a:solidFill>
          <a:ln w="12700">
            <a:solidFill>
              <a:srgbClr val="EB6834"/>
            </a:solidFill>
            <a:prstDash val="solid"/>
          </a:ln>
        </p:spPr>
      </p:sp>
      <p:sp>
        <p:nvSpPr>
          <p:cNvPr id="31" name="Text 29"/>
          <p:cNvSpPr txBox="1"/>
          <p:nvPr/>
        </p:nvSpPr>
        <p:spPr>
          <a:xfrm>
            <a:off x="3995928" y="5020056"/>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8</a:t>
            </a:r>
            <a:endParaRPr lang="en-US" sz="1400" dirty="0"/>
          </a:p>
        </p:txBody>
      </p:sp>
      <p:sp>
        <p:nvSpPr>
          <p:cNvPr id="32" name="Text 30"/>
          <p:cNvSpPr txBox="1"/>
          <p:nvPr/>
        </p:nvSpPr>
        <p:spPr>
          <a:xfrm>
            <a:off x="548640" y="5495544"/>
            <a:ext cx="1783080" cy="45720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Where it was</a:t>
            </a:r>
            <a:endParaRPr lang="en-US" sz="1400" dirty="0"/>
          </a:p>
        </p:txBody>
      </p:sp>
      <p:sp>
        <p:nvSpPr>
          <p:cNvPr id="33" name="Shape 31"/>
          <p:cNvSpPr/>
          <p:nvPr/>
        </p:nvSpPr>
        <p:spPr>
          <a:xfrm>
            <a:off x="2423160" y="5422392"/>
            <a:ext cx="562356" cy="237744"/>
          </a:xfrm>
          <a:prstGeom prst="rect">
            <a:avLst/>
          </a:prstGeom>
          <a:solidFill>
            <a:srgbClr val="2A78D6"/>
          </a:solidFill>
          <a:ln w="12700">
            <a:solidFill>
              <a:srgbClr val="2A78D6"/>
            </a:solidFill>
            <a:prstDash val="solid"/>
          </a:ln>
        </p:spPr>
      </p:sp>
      <p:sp>
        <p:nvSpPr>
          <p:cNvPr id="34" name="Text 32"/>
          <p:cNvSpPr txBox="1"/>
          <p:nvPr/>
        </p:nvSpPr>
        <p:spPr>
          <a:xfrm>
            <a:off x="3058668" y="5404104"/>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3</a:t>
            </a:r>
            <a:endParaRPr lang="en-US" sz="1400" dirty="0"/>
          </a:p>
        </p:txBody>
      </p:sp>
      <p:sp>
        <p:nvSpPr>
          <p:cNvPr id="35" name="Shape 33"/>
          <p:cNvSpPr/>
          <p:nvPr/>
        </p:nvSpPr>
        <p:spPr>
          <a:xfrm>
            <a:off x="2423160" y="5705856"/>
            <a:ext cx="2624328" cy="237744"/>
          </a:xfrm>
          <a:prstGeom prst="rect">
            <a:avLst/>
          </a:prstGeom>
          <a:solidFill>
            <a:srgbClr val="EB6834"/>
          </a:solidFill>
          <a:ln w="12700">
            <a:solidFill>
              <a:srgbClr val="EB6834"/>
            </a:solidFill>
            <a:prstDash val="solid"/>
          </a:ln>
        </p:spPr>
      </p:sp>
      <p:sp>
        <p:nvSpPr>
          <p:cNvPr id="36" name="Text 34"/>
          <p:cNvSpPr txBox="1"/>
          <p:nvPr/>
        </p:nvSpPr>
        <p:spPr>
          <a:xfrm>
            <a:off x="5120640" y="5687568"/>
            <a:ext cx="411480" cy="27432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14</a:t>
            </a:r>
            <a:endParaRPr lang="en-US" sz="1400" dirty="0"/>
          </a:p>
        </p:txBody>
      </p:sp>
      <p:sp>
        <p:nvSpPr>
          <p:cNvPr id="37" name="Text 35"/>
          <p:cNvSpPr txBox="1"/>
          <p:nvPr/>
        </p:nvSpPr>
        <p:spPr>
          <a:xfrm>
            <a:off x="6995160" y="1325880"/>
            <a:ext cx="4647895" cy="347472"/>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In their words</a:t>
            </a:r>
            <a:endParaRPr lang="en-US" sz="1500" dirty="0"/>
          </a:p>
        </p:txBody>
      </p:sp>
      <p:sp>
        <p:nvSpPr>
          <p:cNvPr id="38" name="Shape 36"/>
          <p:cNvSpPr/>
          <p:nvPr/>
        </p:nvSpPr>
        <p:spPr>
          <a:xfrm>
            <a:off x="6995160" y="1691640"/>
            <a:ext cx="4647895" cy="1005840"/>
          </a:xfrm>
          <a:prstGeom prst="roundRect">
            <a:avLst>
              <a:gd name="adj" fmla="val 10909"/>
            </a:avLst>
          </a:prstGeom>
          <a:solidFill>
            <a:srgbClr val="EEF2F6"/>
          </a:solidFill>
          <a:ln w="12700">
            <a:solidFill>
              <a:srgbClr val="EEF2F6"/>
            </a:solidFill>
            <a:prstDash val="solid"/>
          </a:ln>
        </p:spPr>
      </p:sp>
      <p:sp>
        <p:nvSpPr>
          <p:cNvPr id="39" name="Text 37"/>
          <p:cNvSpPr txBox="1"/>
          <p:nvPr/>
        </p:nvSpPr>
        <p:spPr>
          <a:xfrm>
            <a:off x="7196328" y="1810512"/>
            <a:ext cx="4245559" cy="640080"/>
          </a:xfrm>
          <a:prstGeom prst="rect">
            <a:avLst/>
          </a:prstGeom>
          <a:noFill/>
          <a:ln/>
        </p:spPr>
        <p:txBody>
          <a:bodyPr wrap="square" lIns="0" tIns="0" rIns="0" bIns="0" rtlCol="0" anchor="t"/>
          <a:lstStyle/>
          <a:p>
            <a:pPr indent="0" marL="0">
              <a:buNone/>
            </a:pPr>
            <a:r>
              <a:rPr lang="en-US" sz="1400" i="1" dirty="0">
                <a:solidFill>
                  <a:srgbClr val="1C2530"/>
                </a:solidFill>
                <a:latin typeface="Roboto" pitchFamily="34" charset="0"/>
                <a:ea typeface="Roboto" pitchFamily="34" charset="-122"/>
                <a:cs typeface="Roboto" pitchFamily="34" charset="-120"/>
              </a:rPr>
              <a:t>“I know there's multiple screenshots with the words 'silver-blue eyes' in it and nothing is showing up”</a:t>
            </a:r>
            <a:endParaRPr lang="en-US" sz="1400" dirty="0"/>
          </a:p>
        </p:txBody>
      </p:sp>
      <p:sp>
        <p:nvSpPr>
          <p:cNvPr id="40" name="Text 38"/>
          <p:cNvSpPr txBox="1"/>
          <p:nvPr/>
        </p:nvSpPr>
        <p:spPr>
          <a:xfrm>
            <a:off x="7196328" y="2423160"/>
            <a:ext cx="4245559"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Play Store</a:t>
            </a:r>
            <a:endParaRPr lang="en-US" sz="1400" dirty="0"/>
          </a:p>
        </p:txBody>
      </p:sp>
      <p:sp>
        <p:nvSpPr>
          <p:cNvPr id="41" name="Shape 39"/>
          <p:cNvSpPr/>
          <p:nvPr/>
        </p:nvSpPr>
        <p:spPr>
          <a:xfrm>
            <a:off x="6995160" y="2807208"/>
            <a:ext cx="4647895" cy="1005840"/>
          </a:xfrm>
          <a:prstGeom prst="roundRect">
            <a:avLst>
              <a:gd name="adj" fmla="val 10909"/>
            </a:avLst>
          </a:prstGeom>
          <a:solidFill>
            <a:srgbClr val="EEF2F6"/>
          </a:solidFill>
          <a:ln w="12700">
            <a:solidFill>
              <a:srgbClr val="EEF2F6"/>
            </a:solidFill>
            <a:prstDash val="solid"/>
          </a:ln>
        </p:spPr>
      </p:sp>
      <p:sp>
        <p:nvSpPr>
          <p:cNvPr id="42" name="Text 40"/>
          <p:cNvSpPr txBox="1"/>
          <p:nvPr/>
        </p:nvSpPr>
        <p:spPr>
          <a:xfrm>
            <a:off x="7196328" y="2926080"/>
            <a:ext cx="4245559" cy="640080"/>
          </a:xfrm>
          <a:prstGeom prst="rect">
            <a:avLst/>
          </a:prstGeom>
          <a:noFill/>
          <a:ln/>
        </p:spPr>
        <p:txBody>
          <a:bodyPr wrap="square" lIns="0" tIns="0" rIns="0" bIns="0" rtlCol="0" anchor="t"/>
          <a:lstStyle/>
          <a:p>
            <a:pPr indent="0" marL="0">
              <a:buNone/>
            </a:pPr>
            <a:r>
              <a:rPr lang="en-US" sz="1400" i="1" dirty="0">
                <a:solidFill>
                  <a:srgbClr val="1C2530"/>
                </a:solidFill>
                <a:latin typeface="Roboto" pitchFamily="34" charset="0"/>
                <a:ea typeface="Roboto" pitchFamily="34" charset="-122"/>
                <a:cs typeface="Roboto" pitchFamily="34" charset="-120"/>
              </a:rPr>
              <a:t>“I switch back to Classic Search and put in same word and got all the pics I was expecting”</a:t>
            </a:r>
            <a:endParaRPr lang="en-US" sz="1400" dirty="0"/>
          </a:p>
        </p:txBody>
      </p:sp>
      <p:sp>
        <p:nvSpPr>
          <p:cNvPr id="43" name="Text 41"/>
          <p:cNvSpPr txBox="1"/>
          <p:nvPr/>
        </p:nvSpPr>
        <p:spPr>
          <a:xfrm>
            <a:off x="7196328" y="3538728"/>
            <a:ext cx="4245559"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Reddit · r/googlephotos</a:t>
            </a:r>
            <a:endParaRPr lang="en-US" sz="1400" dirty="0"/>
          </a:p>
        </p:txBody>
      </p:sp>
      <p:sp>
        <p:nvSpPr>
          <p:cNvPr id="44" name="Shape 42"/>
          <p:cNvSpPr/>
          <p:nvPr/>
        </p:nvSpPr>
        <p:spPr>
          <a:xfrm>
            <a:off x="6995160" y="3922776"/>
            <a:ext cx="4647895" cy="1005840"/>
          </a:xfrm>
          <a:prstGeom prst="roundRect">
            <a:avLst>
              <a:gd name="adj" fmla="val 10909"/>
            </a:avLst>
          </a:prstGeom>
          <a:solidFill>
            <a:srgbClr val="EEF2F6"/>
          </a:solidFill>
          <a:ln w="12700">
            <a:solidFill>
              <a:srgbClr val="EEF2F6"/>
            </a:solidFill>
            <a:prstDash val="solid"/>
          </a:ln>
        </p:spPr>
      </p:sp>
      <p:sp>
        <p:nvSpPr>
          <p:cNvPr id="45" name="Text 43"/>
          <p:cNvSpPr txBox="1"/>
          <p:nvPr/>
        </p:nvSpPr>
        <p:spPr>
          <a:xfrm>
            <a:off x="7196328" y="4041648"/>
            <a:ext cx="4245559" cy="640080"/>
          </a:xfrm>
          <a:prstGeom prst="rect">
            <a:avLst/>
          </a:prstGeom>
          <a:noFill/>
          <a:ln/>
        </p:spPr>
        <p:txBody>
          <a:bodyPr wrap="square" lIns="0" tIns="0" rIns="0" bIns="0" rtlCol="0" anchor="t"/>
          <a:lstStyle/>
          <a:p>
            <a:pPr indent="0" marL="0">
              <a:buNone/>
            </a:pPr>
            <a:r>
              <a:rPr lang="en-US" sz="1400" i="1" dirty="0">
                <a:solidFill>
                  <a:srgbClr val="1C2530"/>
                </a:solidFill>
                <a:latin typeface="Roboto" pitchFamily="34" charset="0"/>
                <a:ea typeface="Roboto" pitchFamily="34" charset="-122"/>
                <a:cs typeface="Roboto" pitchFamily="34" charset="-120"/>
              </a:rPr>
              <a:t>“I have to attempt 3-4 different searches for other things that might be in the picture”</a:t>
            </a:r>
            <a:endParaRPr lang="en-US" sz="1400" dirty="0"/>
          </a:p>
        </p:txBody>
      </p:sp>
      <p:sp>
        <p:nvSpPr>
          <p:cNvPr id="46" name="Text 44"/>
          <p:cNvSpPr txBox="1"/>
          <p:nvPr/>
        </p:nvSpPr>
        <p:spPr>
          <a:xfrm>
            <a:off x="7196328" y="4654296"/>
            <a:ext cx="4245559"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Play Store</a:t>
            </a:r>
            <a:endParaRPr lang="en-US" sz="1400" dirty="0"/>
          </a:p>
        </p:txBody>
      </p:sp>
      <p:sp>
        <p:nvSpPr>
          <p:cNvPr id="47" name="Shape 45"/>
          <p:cNvSpPr/>
          <p:nvPr/>
        </p:nvSpPr>
        <p:spPr>
          <a:xfrm>
            <a:off x="6995160" y="5074920"/>
            <a:ext cx="4647895" cy="1143000"/>
          </a:xfrm>
          <a:prstGeom prst="roundRect">
            <a:avLst>
              <a:gd name="adj" fmla="val 9600"/>
            </a:avLst>
          </a:prstGeom>
          <a:solidFill>
            <a:srgbClr val="14213D"/>
          </a:solidFill>
          <a:ln w="12700">
            <a:solidFill>
              <a:srgbClr val="14213D"/>
            </a:solidFill>
            <a:prstDash val="solid"/>
          </a:ln>
        </p:spPr>
      </p:sp>
      <p:sp>
        <p:nvSpPr>
          <p:cNvPr id="48" name="Text 46"/>
          <p:cNvSpPr txBox="1"/>
          <p:nvPr/>
        </p:nvSpPr>
        <p:spPr>
          <a:xfrm>
            <a:off x="7196328" y="5175504"/>
            <a:ext cx="4245559" cy="960120"/>
          </a:xfrm>
          <a:prstGeom prst="rect">
            <a:avLst/>
          </a:prstGeom>
          <a:noFill/>
          <a:ln/>
        </p:spPr>
        <p:txBody>
          <a:bodyPr wrap="square" lIns="0" tIns="0" rIns="0" bIns="0" rtlCol="0" anchor="ctr"/>
          <a:lstStyle/>
          <a:p>
            <a:pPr indent="0" marL="0">
              <a:buNone/>
            </a:pPr>
            <a:r>
              <a:rPr lang="en-US" sz="1400" b="1" dirty="0">
                <a:solidFill>
                  <a:srgbClr val="9FB3CC"/>
                </a:solidFill>
                <a:latin typeface="Roboto" pitchFamily="34" charset="0"/>
                <a:ea typeface="Roboto" pitchFamily="34" charset="-122"/>
                <a:cs typeface="Roboto" pitchFamily="34" charset="-120"/>
              </a:rPr>
              <a:t>Google has already been burned here.  </a:t>
            </a:r>
            <a:pPr indent="0" marL="0">
              <a:buNone/>
            </a:pPr>
            <a:r>
              <a:rPr lang="en-US" sz="1400" dirty="0">
                <a:solidFill>
                  <a:srgbClr val="FFFFFF"/>
                </a:solidFill>
                <a:latin typeface="Roboto" pitchFamily="34" charset="0"/>
                <a:ea typeface="Roboto" pitchFamily="34" charset="-122"/>
                <a:cs typeface="Roboto" pitchFamily="34" charset="-120"/>
              </a:rPr>
              <a:t>It paused the Gemini “Ask Photos” rollout in 2026 after users said it found less than classic search, then put classic results back alongside it.</a:t>
            </a:r>
            <a:endParaRPr lang="en-US" sz="1400" dirty="0"/>
          </a:p>
        </p:txBody>
      </p:sp>
      <p:sp>
        <p:nvSpPr>
          <p:cNvPr id="49" name="Text 47"/>
          <p:cNvSpPr txBox="1"/>
          <p:nvPr/>
        </p:nvSpPr>
        <p:spPr>
          <a:xfrm>
            <a:off x="548640" y="6382512"/>
            <a:ext cx="11094415" cy="301752"/>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84 genuine vague-memory failures of 243 retrieval-related posts. Only 3 of 84 were users who couldn't describe what they wanted.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Talking to users broke the review-data story: most people never search at all. They scroll for a date they've forgotten</a:t>
            </a:r>
            <a:endParaRPr lang="en-US" sz="2500" dirty="0"/>
          </a:p>
        </p:txBody>
      </p:sp>
      <p:sp>
        <p:nvSpPr>
          <p:cNvPr id="3" name="Text 1"/>
          <p:cNvSpPr txBox="1"/>
          <p:nvPr/>
        </p:nvSpPr>
        <p:spPr>
          <a:xfrm>
            <a:off x="548640" y="1371600"/>
            <a:ext cx="1554480" cy="731520"/>
          </a:xfrm>
          <a:prstGeom prst="rect">
            <a:avLst/>
          </a:prstGeom>
          <a:noFill/>
          <a:ln/>
        </p:spPr>
        <p:txBody>
          <a:bodyPr wrap="square" lIns="0" tIns="0" rIns="0" bIns="0" rtlCol="0" anchor="t"/>
          <a:lstStyle/>
          <a:p>
            <a:pPr indent="0" marL="0">
              <a:buNone/>
            </a:pPr>
            <a:r>
              <a:rPr lang="en-US" sz="4400" b="1" dirty="0">
                <a:solidFill>
                  <a:srgbClr val="B04515"/>
                </a:solidFill>
                <a:latin typeface="Roboto Slab" pitchFamily="34" charset="0"/>
                <a:ea typeface="Roboto Slab" pitchFamily="34" charset="-122"/>
                <a:cs typeface="Roboto Slab" pitchFamily="34" charset="-120"/>
              </a:rPr>
              <a:t>74%</a:t>
            </a:r>
            <a:endParaRPr lang="en-US" sz="4400" dirty="0"/>
          </a:p>
        </p:txBody>
      </p:sp>
      <p:sp>
        <p:nvSpPr>
          <p:cNvPr id="4" name="Text 2"/>
          <p:cNvSpPr txBox="1"/>
          <p:nvPr/>
        </p:nvSpPr>
        <p:spPr>
          <a:xfrm>
            <a:off x="548640" y="2121408"/>
            <a:ext cx="3108960" cy="566928"/>
          </a:xfrm>
          <a:prstGeom prst="rect">
            <a:avLst/>
          </a:prstGeom>
          <a:noFill/>
          <a:ln/>
        </p:spPr>
        <p:txBody>
          <a:bodyPr wrap="square" lIns="0" tIns="0" rIns="0" bIns="0" rtlCol="0" anchor="t"/>
          <a:lstStyle/>
          <a:p>
            <a:pPr indent="0" marL="0">
              <a:buNone/>
            </a:pPr>
            <a:r>
              <a:rPr lang="en-US" sz="1500" dirty="0">
                <a:solidFill>
                  <a:srgbClr val="1C2530"/>
                </a:solidFill>
                <a:latin typeface="Roboto" pitchFamily="34" charset="0"/>
                <a:ea typeface="Roboto" pitchFamily="34" charset="-122"/>
                <a:cs typeface="Roboto" pitchFamily="34" charset="-120"/>
              </a:rPr>
              <a:t>scroll the timeline by date</a:t>
            </a:r>
            <a:endParaRPr lang="en-US" sz="1500" dirty="0"/>
          </a:p>
        </p:txBody>
      </p:sp>
      <p:sp>
        <p:nvSpPr>
          <p:cNvPr id="5" name="Text 3"/>
          <p:cNvSpPr txBox="1"/>
          <p:nvPr/>
        </p:nvSpPr>
        <p:spPr>
          <a:xfrm>
            <a:off x="548640" y="2743200"/>
            <a:ext cx="1554480" cy="731520"/>
          </a:xfrm>
          <a:prstGeom prst="rect">
            <a:avLst/>
          </a:prstGeom>
          <a:noFill/>
          <a:ln/>
        </p:spPr>
        <p:txBody>
          <a:bodyPr wrap="square" lIns="0" tIns="0" rIns="0" bIns="0" rtlCol="0" anchor="t"/>
          <a:lstStyle/>
          <a:p>
            <a:pPr indent="0" marL="0">
              <a:buNone/>
            </a:pPr>
            <a:r>
              <a:rPr lang="en-US" sz="4400" b="1" dirty="0">
                <a:solidFill>
                  <a:srgbClr val="1C5CAB"/>
                </a:solidFill>
                <a:latin typeface="Roboto Slab" pitchFamily="34" charset="0"/>
                <a:ea typeface="Roboto Slab" pitchFamily="34" charset="-122"/>
                <a:cs typeface="Roboto Slab" pitchFamily="34" charset="-120"/>
              </a:rPr>
              <a:t>48%</a:t>
            </a:r>
            <a:endParaRPr lang="en-US" sz="4400" dirty="0"/>
          </a:p>
        </p:txBody>
      </p:sp>
      <p:sp>
        <p:nvSpPr>
          <p:cNvPr id="6" name="Text 4"/>
          <p:cNvSpPr txBox="1"/>
          <p:nvPr/>
        </p:nvSpPr>
        <p:spPr>
          <a:xfrm>
            <a:off x="548640" y="3493008"/>
            <a:ext cx="3108960" cy="566928"/>
          </a:xfrm>
          <a:prstGeom prst="rect">
            <a:avLst/>
          </a:prstGeom>
          <a:noFill/>
          <a:ln/>
        </p:spPr>
        <p:txBody>
          <a:bodyPr wrap="square" lIns="0" tIns="0" rIns="0" bIns="0" rtlCol="0" anchor="t"/>
          <a:lstStyle/>
          <a:p>
            <a:pPr indent="0" marL="0">
              <a:buNone/>
            </a:pPr>
            <a:r>
              <a:rPr lang="en-US" sz="1500" dirty="0">
                <a:solidFill>
                  <a:srgbClr val="1C2530"/>
                </a:solidFill>
                <a:latin typeface="Roboto" pitchFamily="34" charset="0"/>
                <a:ea typeface="Roboto" pitchFamily="34" charset="-122"/>
                <a:cs typeface="Roboto" pitchFamily="34" charset="-120"/>
              </a:rPr>
              <a:t>ever use search; 29% only ever scroll</a:t>
            </a:r>
            <a:endParaRPr lang="en-US" sz="1500" dirty="0"/>
          </a:p>
        </p:txBody>
      </p:sp>
      <p:sp>
        <p:nvSpPr>
          <p:cNvPr id="7" name="Text 5"/>
          <p:cNvSpPr txBox="1"/>
          <p:nvPr/>
        </p:nvSpPr>
        <p:spPr>
          <a:xfrm>
            <a:off x="548640" y="4114800"/>
            <a:ext cx="1554480" cy="731520"/>
          </a:xfrm>
          <a:prstGeom prst="rect">
            <a:avLst/>
          </a:prstGeom>
          <a:noFill/>
          <a:ln/>
        </p:spPr>
        <p:txBody>
          <a:bodyPr wrap="square" lIns="0" tIns="0" rIns="0" bIns="0" rtlCol="0" anchor="t"/>
          <a:lstStyle/>
          <a:p>
            <a:pPr indent="0" marL="0">
              <a:buNone/>
            </a:pPr>
            <a:r>
              <a:rPr lang="en-US" sz="4400" b="1" dirty="0">
                <a:solidFill>
                  <a:srgbClr val="B04515"/>
                </a:solidFill>
                <a:latin typeface="Roboto Slab" pitchFamily="34" charset="0"/>
                <a:ea typeface="Roboto Slab" pitchFamily="34" charset="-122"/>
                <a:cs typeface="Roboto Slab" pitchFamily="34" charset="-120"/>
              </a:rPr>
              <a:t>61%</a:t>
            </a:r>
            <a:endParaRPr lang="en-US" sz="4400" dirty="0"/>
          </a:p>
        </p:txBody>
      </p:sp>
      <p:sp>
        <p:nvSpPr>
          <p:cNvPr id="8" name="Text 6"/>
          <p:cNvSpPr txBox="1"/>
          <p:nvPr/>
        </p:nvSpPr>
        <p:spPr>
          <a:xfrm>
            <a:off x="548640" y="4864608"/>
            <a:ext cx="3108960" cy="566928"/>
          </a:xfrm>
          <a:prstGeom prst="rect">
            <a:avLst/>
          </a:prstGeom>
          <a:noFill/>
          <a:ln/>
        </p:spPr>
        <p:txBody>
          <a:bodyPr wrap="square" lIns="0" tIns="0" rIns="0" bIns="0" rtlCol="0" anchor="t"/>
          <a:lstStyle/>
          <a:p>
            <a:pPr indent="0" marL="0">
              <a:buNone/>
            </a:pPr>
            <a:r>
              <a:rPr lang="en-US" sz="1500" dirty="0">
                <a:solidFill>
                  <a:srgbClr val="1C2530"/>
                </a:solidFill>
                <a:latin typeface="Roboto" pitchFamily="34" charset="0"/>
                <a:ea typeface="Roboto" pitchFamily="34" charset="-122"/>
                <a:cs typeface="Roboto" pitchFamily="34" charset="-120"/>
              </a:rPr>
              <a:t>had forgotten the very date they were scrolling for</a:t>
            </a:r>
            <a:endParaRPr lang="en-US" sz="1500" dirty="0"/>
          </a:p>
        </p:txBody>
      </p:sp>
      <p:sp>
        <p:nvSpPr>
          <p:cNvPr id="9" name="Shape 7"/>
          <p:cNvSpPr/>
          <p:nvPr/>
        </p:nvSpPr>
        <p:spPr>
          <a:xfrm>
            <a:off x="548640" y="5623560"/>
            <a:ext cx="1118311" cy="274320"/>
          </a:xfrm>
          <a:prstGeom prst="roundRect">
            <a:avLst>
              <a:gd name="adj" fmla="val 50000"/>
            </a:avLst>
          </a:prstGeom>
          <a:solidFill>
            <a:srgbClr val="1C5CAB"/>
          </a:solidFill>
          <a:ln w="12700">
            <a:solidFill>
              <a:srgbClr val="1C5CAB"/>
            </a:solidFill>
            <a:prstDash val="solid"/>
          </a:ln>
        </p:spPr>
      </p:sp>
      <p:sp>
        <p:nvSpPr>
          <p:cNvPr id="10" name="Text 8"/>
          <p:cNvSpPr txBox="1"/>
          <p:nvPr/>
        </p:nvSpPr>
        <p:spPr>
          <a:xfrm>
            <a:off x="548640" y="5637276"/>
            <a:ext cx="1118311" cy="246888"/>
          </a:xfrm>
          <a:prstGeom prst="rect">
            <a:avLst/>
          </a:prstGeom>
          <a:noFill/>
          <a:ln/>
        </p:spPr>
        <p:txBody>
          <a:bodyPr wrap="square" lIns="0" tIns="0" rIns="0" bIns="0"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Survey n=31</a:t>
            </a:r>
            <a:endParaRPr lang="en-US" sz="1400" dirty="0"/>
          </a:p>
        </p:txBody>
      </p:sp>
      <p:sp>
        <p:nvSpPr>
          <p:cNvPr id="11" name="Text 9"/>
          <p:cNvSpPr txBox="1"/>
          <p:nvPr/>
        </p:nvSpPr>
        <p:spPr>
          <a:xfrm>
            <a:off x="4114800" y="1325880"/>
            <a:ext cx="7528255" cy="32004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Watched in live retrieval tasks on people's own libraries</a:t>
            </a:r>
            <a:endParaRPr lang="en-US" sz="1500" dirty="0"/>
          </a:p>
        </p:txBody>
      </p:sp>
      <p:sp>
        <p:nvSpPr>
          <p:cNvPr id="12" name="Shape 10"/>
          <p:cNvSpPr/>
          <p:nvPr/>
        </p:nvSpPr>
        <p:spPr>
          <a:xfrm>
            <a:off x="4114800" y="1691640"/>
            <a:ext cx="7528255" cy="1188720"/>
          </a:xfrm>
          <a:prstGeom prst="roundRect">
            <a:avLst>
              <a:gd name="adj" fmla="val 9231"/>
            </a:avLst>
          </a:prstGeom>
          <a:solidFill>
            <a:srgbClr val="EEF2F6"/>
          </a:solidFill>
          <a:ln w="12700">
            <a:solidFill>
              <a:srgbClr val="EEF2F6"/>
            </a:solidFill>
            <a:prstDash val="solid"/>
          </a:ln>
        </p:spPr>
      </p:sp>
      <p:sp>
        <p:nvSpPr>
          <p:cNvPr id="13" name="Text 11"/>
          <p:cNvSpPr txBox="1"/>
          <p:nvPr/>
        </p:nvSpPr>
        <p:spPr>
          <a:xfrm>
            <a:off x="4315968" y="1810512"/>
            <a:ext cx="2331720" cy="96012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P1 · a receipt, 2 years old</a:t>
            </a:r>
            <a:endParaRPr lang="en-US" sz="1500" dirty="0"/>
          </a:p>
        </p:txBody>
      </p:sp>
      <p:sp>
        <p:nvSpPr>
          <p:cNvPr id="14" name="Text 12"/>
          <p:cNvSpPr txBox="1"/>
          <p:nvPr/>
        </p:nvSpPr>
        <p:spPr>
          <a:xfrm>
            <a:off x="6812280" y="1810512"/>
            <a:ext cx="2499055" cy="100584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The brand name he correctly remembered returned the appliance, not its receipt. The vendor name returned nothing. The generic word “bill” found it, third try.</a:t>
            </a:r>
            <a:endParaRPr lang="en-US" sz="1400" dirty="0"/>
          </a:p>
        </p:txBody>
      </p:sp>
      <p:sp>
        <p:nvSpPr>
          <p:cNvPr id="15" name="Text 13"/>
          <p:cNvSpPr txBox="1"/>
          <p:nvPr/>
        </p:nvSpPr>
        <p:spPr>
          <a:xfrm>
            <a:off x="9494215" y="1810512"/>
            <a:ext cx="1965960" cy="960120"/>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“The keyword matters.”</a:t>
            </a:r>
            <a:endParaRPr lang="en-US" sz="1400" dirty="0"/>
          </a:p>
        </p:txBody>
      </p:sp>
      <p:sp>
        <p:nvSpPr>
          <p:cNvPr id="16" name="Shape 14"/>
          <p:cNvSpPr/>
          <p:nvPr/>
        </p:nvSpPr>
        <p:spPr>
          <a:xfrm>
            <a:off x="4114800" y="2990088"/>
            <a:ext cx="7528255" cy="1188720"/>
          </a:xfrm>
          <a:prstGeom prst="roundRect">
            <a:avLst>
              <a:gd name="adj" fmla="val 9231"/>
            </a:avLst>
          </a:prstGeom>
          <a:solidFill>
            <a:srgbClr val="EEF2F6"/>
          </a:solidFill>
          <a:ln w="12700">
            <a:solidFill>
              <a:srgbClr val="EEF2F6"/>
            </a:solidFill>
            <a:prstDash val="solid"/>
          </a:ln>
        </p:spPr>
      </p:sp>
      <p:sp>
        <p:nvSpPr>
          <p:cNvPr id="17" name="Text 15"/>
          <p:cNvSpPr txBox="1"/>
          <p:nvPr/>
        </p:nvSpPr>
        <p:spPr>
          <a:xfrm>
            <a:off x="4315968" y="3108960"/>
            <a:ext cx="2331720" cy="96012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P2 · 75,000 photos, 4 years</a:t>
            </a:r>
            <a:endParaRPr lang="en-US" sz="1500" dirty="0"/>
          </a:p>
        </p:txBody>
      </p:sp>
      <p:sp>
        <p:nvSpPr>
          <p:cNvPr id="18" name="Text 16"/>
          <p:cNvSpPr txBox="1"/>
          <p:nvPr/>
        </p:nvSpPr>
        <p:spPr>
          <a:xfrm>
            <a:off x="6812280" y="3108960"/>
            <a:ext cx="2499055" cy="100584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Hits this weekly. Finds photos eventually, by accident. “When randomly scrolling over my gallery later I find it.”</a:t>
            </a:r>
            <a:endParaRPr lang="en-US" sz="1400" dirty="0"/>
          </a:p>
        </p:txBody>
      </p:sp>
      <p:sp>
        <p:nvSpPr>
          <p:cNvPr id="19" name="Text 17"/>
          <p:cNvSpPr txBox="1"/>
          <p:nvPr/>
        </p:nvSpPr>
        <p:spPr>
          <a:xfrm>
            <a:off x="9494215" y="3108960"/>
            <a:ext cx="1965960" cy="960120"/>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Late isn't found</a:t>
            </a:r>
            <a:endParaRPr lang="en-US" sz="1400" dirty="0"/>
          </a:p>
        </p:txBody>
      </p:sp>
      <p:sp>
        <p:nvSpPr>
          <p:cNvPr id="20" name="Shape 18"/>
          <p:cNvSpPr/>
          <p:nvPr/>
        </p:nvSpPr>
        <p:spPr>
          <a:xfrm>
            <a:off x="4114800" y="4288536"/>
            <a:ext cx="7528255" cy="1188720"/>
          </a:xfrm>
          <a:prstGeom prst="roundRect">
            <a:avLst>
              <a:gd name="adj" fmla="val 9231"/>
            </a:avLst>
          </a:prstGeom>
          <a:solidFill>
            <a:srgbClr val="EEF2F6"/>
          </a:solidFill>
          <a:ln w="12700">
            <a:solidFill>
              <a:srgbClr val="EEF2F6"/>
            </a:solidFill>
            <a:prstDash val="solid"/>
          </a:ln>
        </p:spPr>
      </p:sp>
      <p:sp>
        <p:nvSpPr>
          <p:cNvPr id="21" name="Text 19"/>
          <p:cNvSpPr txBox="1"/>
          <p:nvPr/>
        </p:nvSpPr>
        <p:spPr>
          <a:xfrm>
            <a:off x="4315968" y="4407408"/>
            <a:ext cx="2331720" cy="96012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P1 and P2 · both, unprompted</a:t>
            </a:r>
            <a:endParaRPr lang="en-US" sz="1500" dirty="0"/>
          </a:p>
        </p:txBody>
      </p:sp>
      <p:sp>
        <p:nvSpPr>
          <p:cNvPr id="22" name="Text 20"/>
          <p:cNvSpPr txBox="1"/>
          <p:nvPr/>
        </p:nvSpPr>
        <p:spPr>
          <a:xfrm>
            <a:off x="6812280" y="4407408"/>
            <a:ext cx="2499055" cy="100584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P1 gave up after 2 minutes and re-photographed his PAN card. P2: “I choose alternative path for that work.”</a:t>
            </a:r>
            <a:endParaRPr lang="en-US" sz="1400" dirty="0"/>
          </a:p>
        </p:txBody>
      </p:sp>
      <p:sp>
        <p:nvSpPr>
          <p:cNvPr id="23" name="Text 21"/>
          <p:cNvSpPr txBox="1"/>
          <p:nvPr/>
        </p:nvSpPr>
        <p:spPr>
          <a:xfrm>
            <a:off x="9494215" y="4407408"/>
            <a:ext cx="1965960" cy="960120"/>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They route around the app</a:t>
            </a:r>
            <a:endParaRPr lang="en-US" sz="1400" dirty="0"/>
          </a:p>
        </p:txBody>
      </p:sp>
      <p:sp>
        <p:nvSpPr>
          <p:cNvPr id="24" name="Text 22"/>
          <p:cNvSpPr txBox="1"/>
          <p:nvPr/>
        </p:nvSpPr>
        <p:spPr>
          <a:xfrm>
            <a:off x="4114800" y="5623560"/>
            <a:ext cx="7528255" cy="548640"/>
          </a:xfrm>
          <a:prstGeom prst="rect">
            <a:avLst/>
          </a:prstGeom>
          <a:noFill/>
          <a:ln/>
        </p:spPr>
        <p:txBody>
          <a:bodyPr wrap="square" lIns="0" tIns="0" rIns="0" bIns="0" rtlCol="0" anchor="t"/>
          <a:lstStyle/>
          <a:p>
            <a:pPr indent="0" marL="0">
              <a:buNone/>
            </a:pPr>
            <a:r>
              <a:rPr lang="en-US" sz="1400" b="1" dirty="0">
                <a:solidFill>
                  <a:srgbClr val="4E5A67"/>
                </a:solidFill>
                <a:latin typeface="Roboto" pitchFamily="34" charset="0"/>
                <a:ea typeface="Roboto" pitchFamily="34" charset="-122"/>
                <a:cs typeface="Roboto" pitchFamily="34" charset="-120"/>
              </a:rPr>
              <a:t>Why the sources disagreed: </a:t>
            </a:r>
            <a:pPr indent="0" marL="0">
              <a:buNone/>
            </a:pPr>
            <a:r>
              <a:rPr lang="en-US" sz="1400" dirty="0">
                <a:solidFill>
                  <a:srgbClr val="4E5A67"/>
                </a:solidFill>
                <a:latin typeface="Roboto" pitchFamily="34" charset="0"/>
                <a:ea typeface="Roboto" pitchFamily="34" charset="-122"/>
                <a:cs typeface="Roboto" pitchFamily="34" charset="-120"/>
              </a:rPr>
              <a:t>a public review only exists when search fails loudly. The survey also catches the silent scroll failures. In both interviews, abandonment meant the job got done another way.</a:t>
            </a:r>
            <a:endParaRPr lang="en-US" sz="1400" dirty="0"/>
          </a:p>
        </p:txBody>
      </p:sp>
      <p:sp>
        <p:nvSpPr>
          <p:cNvPr id="25" name="Text 23"/>
          <p:cNvSpPr txBox="1"/>
          <p:nvPr/>
        </p:nvSpPr>
        <p:spPr>
          <a:xfrm>
            <a:off x="548640" y="6382512"/>
            <a:ext cx="11094415" cy="301752"/>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Method: contextual interviews with live tasks on participants' own libraries + Google Form survey. P3-P6 in progress.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Root cause, reproduced on the live product: the app silently guesses the one thing users are least sure about: when</a:t>
            </a:r>
            <a:endParaRPr lang="en-US" sz="2500" dirty="0"/>
          </a:p>
        </p:txBody>
      </p:sp>
      <p:sp>
        <p:nvSpPr>
          <p:cNvPr id="3" name="Text 1"/>
          <p:cNvSpPr txBox="1"/>
          <p:nvPr/>
        </p:nvSpPr>
        <p:spPr>
          <a:xfrm>
            <a:off x="548640" y="1280160"/>
            <a:ext cx="11094415" cy="32004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One photo · one library · production Google Photos with Gemini “Ask Photos” · five queries</a:t>
            </a:r>
            <a:endParaRPr lang="en-US" sz="1500" dirty="0"/>
          </a:p>
        </p:txBody>
      </p:sp>
      <p:sp>
        <p:nvSpPr>
          <p:cNvPr id="4" name="Shape 2"/>
          <p:cNvSpPr/>
          <p:nvPr/>
        </p:nvSpPr>
        <p:spPr>
          <a:xfrm>
            <a:off x="548640" y="1691640"/>
            <a:ext cx="11094415" cy="566928"/>
          </a:xfrm>
          <a:prstGeom prst="roundRect">
            <a:avLst>
              <a:gd name="adj" fmla="val 19355"/>
            </a:avLst>
          </a:prstGeom>
          <a:solidFill>
            <a:srgbClr val="FDEEE6"/>
          </a:solidFill>
          <a:ln w="12700">
            <a:solidFill>
              <a:srgbClr val="FDEEE6"/>
            </a:solidFill>
            <a:prstDash val="solid"/>
          </a:ln>
        </p:spPr>
      </p:sp>
      <p:sp>
        <p:nvSpPr>
          <p:cNvPr id="5" name="Text 3"/>
          <p:cNvSpPr txBox="1"/>
          <p:nvPr/>
        </p:nvSpPr>
        <p:spPr>
          <a:xfrm>
            <a:off x="749808" y="1792224"/>
            <a:ext cx="4114800" cy="41148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“bill from last august”</a:t>
            </a:r>
            <a:endParaRPr lang="en-US" sz="1400" dirty="0"/>
          </a:p>
        </p:txBody>
      </p:sp>
      <p:sp>
        <p:nvSpPr>
          <p:cNvPr id="6" name="Text 4"/>
          <p:cNvSpPr txBox="1"/>
          <p:nvPr/>
        </p:nvSpPr>
        <p:spPr>
          <a:xfrm>
            <a:off x="4983480" y="1792224"/>
            <a:ext cx="1371600" cy="411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Ambiguous</a:t>
            </a:r>
            <a:endParaRPr lang="en-US" sz="1400" dirty="0"/>
          </a:p>
        </p:txBody>
      </p:sp>
      <p:sp>
        <p:nvSpPr>
          <p:cNvPr id="7" name="Text 5"/>
          <p:cNvSpPr txBox="1"/>
          <p:nvPr/>
        </p:nvSpPr>
        <p:spPr>
          <a:xfrm>
            <a:off x="6446520" y="1792224"/>
            <a:ext cx="4967935" cy="411480"/>
          </a:xfrm>
          <a:prstGeom prst="rect">
            <a:avLst/>
          </a:prstGeom>
          <a:noFill/>
          <a:ln/>
        </p:spPr>
        <p:txBody>
          <a:bodyPr wrap="square" lIns="0" tIns="0" rIns="0" bIns="0" rtlCol="0" anchor="t"/>
          <a:lstStyle/>
          <a:p>
            <a:pPr indent="0" marL="0">
              <a:buNone/>
            </a:pPr>
            <a:r>
              <a:rPr lang="en-US" sz="1400" b="1" dirty="0">
                <a:solidFill>
                  <a:srgbClr val="B04515"/>
                </a:solidFill>
                <a:latin typeface="Roboto" pitchFamily="34" charset="0"/>
                <a:ea typeface="Roboto" pitchFamily="34" charset="-122"/>
                <a:cs typeface="Roboto" pitchFamily="34" charset="-120"/>
              </a:rPr>
              <a:t>✕  Nothing found. Then showed unrelated photos from August 2026: selfies, decorations.</a:t>
            </a:r>
            <a:endParaRPr lang="en-US" sz="1400" dirty="0"/>
          </a:p>
        </p:txBody>
      </p:sp>
      <p:sp>
        <p:nvSpPr>
          <p:cNvPr id="8" name="Shape 6"/>
          <p:cNvSpPr/>
          <p:nvPr/>
        </p:nvSpPr>
        <p:spPr>
          <a:xfrm>
            <a:off x="548640" y="2350008"/>
            <a:ext cx="11094415" cy="566928"/>
          </a:xfrm>
          <a:prstGeom prst="roundRect">
            <a:avLst>
              <a:gd name="adj" fmla="val 19355"/>
            </a:avLst>
          </a:prstGeom>
          <a:solidFill>
            <a:srgbClr val="FDEEE6"/>
          </a:solidFill>
          <a:ln w="12700">
            <a:solidFill>
              <a:srgbClr val="FDEEE6"/>
            </a:solidFill>
            <a:prstDash val="solid"/>
          </a:ln>
        </p:spPr>
      </p:sp>
      <p:sp>
        <p:nvSpPr>
          <p:cNvPr id="9" name="Text 7"/>
          <p:cNvSpPr txBox="1"/>
          <p:nvPr/>
        </p:nvSpPr>
        <p:spPr>
          <a:xfrm>
            <a:off x="749808" y="2450592"/>
            <a:ext cx="4114800" cy="41148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“…last august at one8”  (added the venue)</a:t>
            </a:r>
            <a:endParaRPr lang="en-US" sz="1400" dirty="0"/>
          </a:p>
        </p:txBody>
      </p:sp>
      <p:sp>
        <p:nvSpPr>
          <p:cNvPr id="10" name="Text 8"/>
          <p:cNvSpPr txBox="1"/>
          <p:nvPr/>
        </p:nvSpPr>
        <p:spPr>
          <a:xfrm>
            <a:off x="4983480" y="2450592"/>
            <a:ext cx="1371600" cy="411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Ambiguous</a:t>
            </a:r>
            <a:endParaRPr lang="en-US" sz="1400" dirty="0"/>
          </a:p>
        </p:txBody>
      </p:sp>
      <p:sp>
        <p:nvSpPr>
          <p:cNvPr id="11" name="Text 9"/>
          <p:cNvSpPr txBox="1"/>
          <p:nvPr/>
        </p:nvSpPr>
        <p:spPr>
          <a:xfrm>
            <a:off x="6446520" y="2450592"/>
            <a:ext cx="4967935" cy="411480"/>
          </a:xfrm>
          <a:prstGeom prst="rect">
            <a:avLst/>
          </a:prstGeom>
          <a:noFill/>
          <a:ln/>
        </p:spPr>
        <p:txBody>
          <a:bodyPr wrap="square" lIns="0" tIns="0" rIns="0" bIns="0" rtlCol="0" anchor="t"/>
          <a:lstStyle/>
          <a:p>
            <a:pPr indent="0" marL="0">
              <a:buNone/>
            </a:pPr>
            <a:r>
              <a:rPr lang="en-US" sz="1400" b="1" dirty="0">
                <a:solidFill>
                  <a:srgbClr val="B04515"/>
                </a:solidFill>
                <a:latin typeface="Roboto" pitchFamily="34" charset="0"/>
                <a:ea typeface="Roboto" pitchFamily="34" charset="-122"/>
                <a:cs typeface="Roboto" pitchFamily="34" charset="-120"/>
              </a:rPr>
              <a:t>✕  Zero results. More accurate detail made it worse, not better.</a:t>
            </a:r>
            <a:endParaRPr lang="en-US" sz="1400" dirty="0"/>
          </a:p>
        </p:txBody>
      </p:sp>
      <p:sp>
        <p:nvSpPr>
          <p:cNvPr id="12" name="Shape 10"/>
          <p:cNvSpPr/>
          <p:nvPr/>
        </p:nvSpPr>
        <p:spPr>
          <a:xfrm>
            <a:off x="548640" y="3008376"/>
            <a:ext cx="11094415" cy="566928"/>
          </a:xfrm>
          <a:prstGeom prst="roundRect">
            <a:avLst>
              <a:gd name="adj" fmla="val 19355"/>
            </a:avLst>
          </a:prstGeom>
          <a:solidFill>
            <a:srgbClr val="EEF2F6"/>
          </a:solidFill>
          <a:ln w="12700">
            <a:solidFill>
              <a:srgbClr val="EEF2F6"/>
            </a:solidFill>
            <a:prstDash val="solid"/>
          </a:ln>
        </p:spPr>
      </p:sp>
      <p:sp>
        <p:nvSpPr>
          <p:cNvPr id="13" name="Text 11"/>
          <p:cNvSpPr txBox="1"/>
          <p:nvPr/>
        </p:nvSpPr>
        <p:spPr>
          <a:xfrm>
            <a:off x="749808" y="3108960"/>
            <a:ext cx="4114800" cy="41148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“bill receipt of dinner last year”</a:t>
            </a:r>
            <a:endParaRPr lang="en-US" sz="1400" dirty="0"/>
          </a:p>
        </p:txBody>
      </p:sp>
      <p:sp>
        <p:nvSpPr>
          <p:cNvPr id="14" name="Text 12"/>
          <p:cNvSpPr txBox="1"/>
          <p:nvPr/>
        </p:nvSpPr>
        <p:spPr>
          <a:xfrm>
            <a:off x="4983480" y="3108960"/>
            <a:ext cx="1371600" cy="411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Unambiguous</a:t>
            </a:r>
            <a:endParaRPr lang="en-US" sz="1400" dirty="0"/>
          </a:p>
        </p:txBody>
      </p:sp>
      <p:sp>
        <p:nvSpPr>
          <p:cNvPr id="15" name="Text 13"/>
          <p:cNvSpPr txBox="1"/>
          <p:nvPr/>
        </p:nvSpPr>
        <p:spPr>
          <a:xfrm>
            <a:off x="6446520" y="3108960"/>
            <a:ext cx="4967935" cy="411480"/>
          </a:xfrm>
          <a:prstGeom prst="rect">
            <a:avLst/>
          </a:prstGeom>
          <a:noFill/>
          <a:ln/>
        </p:spPr>
        <p:txBody>
          <a:bodyPr wrap="square" lIns="0" tIns="0" rIns="0" bIns="0" rtlCol="0" anchor="t"/>
          <a:lstStyle/>
          <a:p>
            <a:pPr indent="0" marL="0">
              <a:buNone/>
            </a:pPr>
            <a:r>
              <a:rPr lang="en-US" sz="1400" dirty="0">
                <a:solidFill>
                  <a:srgbClr val="1B7A4B"/>
                </a:solidFill>
                <a:latin typeface="Roboto" pitchFamily="34" charset="0"/>
                <a:ea typeface="Roboto" pitchFamily="34" charset="-122"/>
                <a:cs typeface="Roboto" pitchFamily="34" charset="-120"/>
              </a:rPr>
              <a:t>✓  Found it.</a:t>
            </a:r>
            <a:endParaRPr lang="en-US" sz="1400" dirty="0"/>
          </a:p>
        </p:txBody>
      </p:sp>
      <p:sp>
        <p:nvSpPr>
          <p:cNvPr id="16" name="Shape 14"/>
          <p:cNvSpPr/>
          <p:nvPr/>
        </p:nvSpPr>
        <p:spPr>
          <a:xfrm>
            <a:off x="548640" y="3666744"/>
            <a:ext cx="11094415" cy="566928"/>
          </a:xfrm>
          <a:prstGeom prst="roundRect">
            <a:avLst>
              <a:gd name="adj" fmla="val 19355"/>
            </a:avLst>
          </a:prstGeom>
          <a:solidFill>
            <a:srgbClr val="EEF2F6"/>
          </a:solidFill>
          <a:ln w="12700">
            <a:solidFill>
              <a:srgbClr val="EEF2F6"/>
            </a:solidFill>
            <a:prstDash val="solid"/>
          </a:ln>
        </p:spPr>
      </p:sp>
      <p:sp>
        <p:nvSpPr>
          <p:cNvPr id="17" name="Text 15"/>
          <p:cNvSpPr txBox="1"/>
          <p:nvPr/>
        </p:nvSpPr>
        <p:spPr>
          <a:xfrm>
            <a:off x="749808" y="3767328"/>
            <a:ext cx="4114800" cy="41148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“bill from august 2025”  ← control</a:t>
            </a:r>
            <a:endParaRPr lang="en-US" sz="1400" dirty="0"/>
          </a:p>
        </p:txBody>
      </p:sp>
      <p:sp>
        <p:nvSpPr>
          <p:cNvPr id="18" name="Text 16"/>
          <p:cNvSpPr txBox="1"/>
          <p:nvPr/>
        </p:nvSpPr>
        <p:spPr>
          <a:xfrm>
            <a:off x="4983480" y="3767328"/>
            <a:ext cx="1371600" cy="411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Explicit</a:t>
            </a:r>
            <a:endParaRPr lang="en-US" sz="1400" dirty="0"/>
          </a:p>
        </p:txBody>
      </p:sp>
      <p:sp>
        <p:nvSpPr>
          <p:cNvPr id="19" name="Text 17"/>
          <p:cNvSpPr txBox="1"/>
          <p:nvPr/>
        </p:nvSpPr>
        <p:spPr>
          <a:xfrm>
            <a:off x="6446520" y="3767328"/>
            <a:ext cx="4967935" cy="411480"/>
          </a:xfrm>
          <a:prstGeom prst="rect">
            <a:avLst/>
          </a:prstGeom>
          <a:noFill/>
          <a:ln/>
        </p:spPr>
        <p:txBody>
          <a:bodyPr wrap="square" lIns="0" tIns="0" rIns="0" bIns="0" rtlCol="0" anchor="t"/>
          <a:lstStyle/>
          <a:p>
            <a:pPr indent="0" marL="0">
              <a:buNone/>
            </a:pPr>
            <a:r>
              <a:rPr lang="en-US" sz="1400" dirty="0">
                <a:solidFill>
                  <a:srgbClr val="1B7A4B"/>
                </a:solidFill>
                <a:latin typeface="Roboto" pitchFamily="34" charset="0"/>
                <a:ea typeface="Roboto" pitchFamily="34" charset="-122"/>
                <a:cs typeface="Roboto" pitchFamily="34" charset="-120"/>
              </a:rPr>
              <a:t>✓  Instant. Itemised to the dish, with the total and related payment screenshots.</a:t>
            </a:r>
            <a:endParaRPr lang="en-US" sz="1400" dirty="0"/>
          </a:p>
        </p:txBody>
      </p:sp>
      <p:sp>
        <p:nvSpPr>
          <p:cNvPr id="20" name="Shape 18"/>
          <p:cNvSpPr/>
          <p:nvPr/>
        </p:nvSpPr>
        <p:spPr>
          <a:xfrm>
            <a:off x="548640" y="4325112"/>
            <a:ext cx="11094415" cy="566928"/>
          </a:xfrm>
          <a:prstGeom prst="roundRect">
            <a:avLst>
              <a:gd name="adj" fmla="val 19355"/>
            </a:avLst>
          </a:prstGeom>
          <a:solidFill>
            <a:srgbClr val="EEF2F6"/>
          </a:solidFill>
          <a:ln w="12700">
            <a:solidFill>
              <a:srgbClr val="EEF2F6"/>
            </a:solidFill>
            <a:prstDash val="solid"/>
          </a:ln>
        </p:spPr>
      </p:sp>
      <p:sp>
        <p:nvSpPr>
          <p:cNvPr id="21" name="Text 19"/>
          <p:cNvSpPr txBox="1"/>
          <p:nvPr/>
        </p:nvSpPr>
        <p:spPr>
          <a:xfrm>
            <a:off x="749808" y="4425696"/>
            <a:ext cx="4114800" cy="41148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“restaurant bill, dinner with friends, around a year ago”</a:t>
            </a:r>
            <a:endParaRPr lang="en-US" sz="1400" dirty="0"/>
          </a:p>
        </p:txBody>
      </p:sp>
      <p:sp>
        <p:nvSpPr>
          <p:cNvPr id="22" name="Text 20"/>
          <p:cNvSpPr txBox="1"/>
          <p:nvPr/>
        </p:nvSpPr>
        <p:spPr>
          <a:xfrm>
            <a:off x="4983480" y="4425696"/>
            <a:ext cx="1371600" cy="41148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Openly vague</a:t>
            </a:r>
            <a:endParaRPr lang="en-US" sz="1400" dirty="0"/>
          </a:p>
        </p:txBody>
      </p:sp>
      <p:sp>
        <p:nvSpPr>
          <p:cNvPr id="23" name="Text 21"/>
          <p:cNvSpPr txBox="1"/>
          <p:nvPr/>
        </p:nvSpPr>
        <p:spPr>
          <a:xfrm>
            <a:off x="6446520" y="4425696"/>
            <a:ext cx="4967935" cy="411480"/>
          </a:xfrm>
          <a:prstGeom prst="rect">
            <a:avLst/>
          </a:prstGeom>
          <a:noFill/>
          <a:ln/>
        </p:spPr>
        <p:txBody>
          <a:bodyPr wrap="square" lIns="0" tIns="0" rIns="0" bIns="0" rtlCol="0" anchor="t"/>
          <a:lstStyle/>
          <a:p>
            <a:pPr indent="0" marL="0">
              <a:buNone/>
            </a:pPr>
            <a:r>
              <a:rPr lang="en-US" sz="1400" dirty="0">
                <a:solidFill>
                  <a:srgbClr val="1B7A4B"/>
                </a:solidFill>
                <a:latin typeface="Roboto" pitchFamily="34" charset="0"/>
                <a:ea typeface="Roboto" pitchFamily="34" charset="-122"/>
                <a:cs typeface="Roboto" pitchFamily="34" charset="-120"/>
              </a:rPr>
              <a:t>✓  Found it and led with it, but buried in ~64 loosely-related photos.</a:t>
            </a:r>
            <a:endParaRPr lang="en-US" sz="1400" dirty="0"/>
          </a:p>
        </p:txBody>
      </p:sp>
      <p:sp>
        <p:nvSpPr>
          <p:cNvPr id="24" name="Shape 22"/>
          <p:cNvSpPr/>
          <p:nvPr/>
        </p:nvSpPr>
        <p:spPr>
          <a:xfrm>
            <a:off x="548640" y="5120640"/>
            <a:ext cx="11094415" cy="1097280"/>
          </a:xfrm>
          <a:prstGeom prst="roundRect">
            <a:avLst>
              <a:gd name="adj" fmla="val 10000"/>
            </a:avLst>
          </a:prstGeom>
          <a:solidFill>
            <a:srgbClr val="14213D"/>
          </a:solidFill>
          <a:ln w="12700">
            <a:solidFill>
              <a:srgbClr val="14213D"/>
            </a:solidFill>
            <a:prstDash val="solid"/>
          </a:ln>
        </p:spPr>
      </p:sp>
      <p:sp>
        <p:nvSpPr>
          <p:cNvPr id="25" name="Text 23"/>
          <p:cNvSpPr txBox="1"/>
          <p:nvPr/>
        </p:nvSpPr>
        <p:spPr>
          <a:xfrm>
            <a:off x="822960" y="5230368"/>
            <a:ext cx="10545775" cy="914400"/>
          </a:xfrm>
          <a:prstGeom prst="rect">
            <a:avLst/>
          </a:prstGeom>
          <a:noFill/>
          <a:ln/>
        </p:spPr>
        <p:txBody>
          <a:bodyPr wrap="square" lIns="0" tIns="0" rIns="0" bIns="0" rtlCol="0" anchor="ctr"/>
          <a:lstStyle/>
          <a:p>
            <a:pPr indent="0" marL="0">
              <a:buNone/>
            </a:pPr>
            <a:r>
              <a:rPr lang="en-US" sz="1500" b="1" dirty="0">
                <a:solidFill>
                  <a:srgbClr val="FFFFFF"/>
                </a:solidFill>
                <a:latin typeface="Roboto" pitchFamily="34" charset="0"/>
                <a:ea typeface="Roboto" pitchFamily="34" charset="-122"/>
                <a:cs typeface="Roboto" pitchFamily="34" charset="-120"/>
              </a:rPr>
              <a:t>Same photo. Same word, “bill”. Only the date phrasing changed.  </a:t>
            </a:r>
            <a:pPr indent="0" marL="0">
              <a:buNone/>
            </a:pPr>
            <a:r>
              <a:rPr lang="en-US" sz="1500" dirty="0">
                <a:solidFill>
                  <a:srgbClr val="D8E1EC"/>
                </a:solidFill>
                <a:latin typeface="Roboto" pitchFamily="34" charset="0"/>
                <a:ea typeface="Roboto" pitchFamily="34" charset="-122"/>
                <a:cs typeface="Roboto" pitchFamily="34" charset="-120"/>
              </a:rPr>
              <a:t>“Last August” was silently read as August 2026 and turned into a hard filter. The bill was from August 2025. Content matching was never broken. </a:t>
            </a:r>
            <a:pPr indent="0" marL="0">
              <a:buNone/>
            </a:pPr>
            <a:r>
              <a:rPr lang="en-US" sz="1500" b="1" dirty="0">
                <a:solidFill>
                  <a:srgbClr val="FFFFFF"/>
                </a:solidFill>
                <a:latin typeface="Roboto" pitchFamily="34" charset="0"/>
                <a:ea typeface="Roboto" pitchFamily="34" charset="-122"/>
                <a:cs typeface="Roboto" pitchFamily="34" charset="-120"/>
              </a:rPr>
              <a:t>Being honestly vague (“around a year ago”) beat being confidently approximate (“last August”).</a:t>
            </a:r>
            <a:endParaRPr lang="en-US" sz="1500" dirty="0"/>
          </a:p>
        </p:txBody>
      </p:sp>
      <p:sp>
        <p:nvSpPr>
          <p:cNvPr id="26" name="Text 24"/>
          <p:cNvSpPr txBox="1"/>
          <p:nvPr/>
        </p:nvSpPr>
        <p:spPr>
          <a:xfrm>
            <a:off x="548640" y="6382512"/>
            <a:ext cx="11094415" cy="301752"/>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First-party test with a control, 28 Sep 2026. Full log and screenshots in the research repo.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Memory is intact. What is missing is anywhere to put it, and any way back from a near-miss</a:t>
            </a:r>
            <a:endParaRPr lang="en-US" sz="2500" dirty="0"/>
          </a:p>
        </p:txBody>
      </p:sp>
      <p:sp>
        <p:nvSpPr>
          <p:cNvPr id="3" name="Shape 1"/>
          <p:cNvSpPr/>
          <p:nvPr/>
        </p:nvSpPr>
        <p:spPr>
          <a:xfrm>
            <a:off x="548640" y="1207008"/>
            <a:ext cx="11094415" cy="841248"/>
          </a:xfrm>
          <a:prstGeom prst="roundRect">
            <a:avLst>
              <a:gd name="adj" fmla="val 13043"/>
            </a:avLst>
          </a:prstGeom>
          <a:solidFill>
            <a:srgbClr val="14213D"/>
          </a:solidFill>
          <a:ln w="12700">
            <a:solidFill>
              <a:srgbClr val="14213D"/>
            </a:solidFill>
            <a:prstDash val="solid"/>
          </a:ln>
        </p:spPr>
      </p:sp>
      <p:sp>
        <p:nvSpPr>
          <p:cNvPr id="4" name="Text 2"/>
          <p:cNvSpPr txBox="1"/>
          <p:nvPr/>
        </p:nvSpPr>
        <p:spPr>
          <a:xfrm>
            <a:off x="804672" y="1280160"/>
            <a:ext cx="10582351" cy="713232"/>
          </a:xfrm>
          <a:prstGeom prst="rect">
            <a:avLst/>
          </a:prstGeom>
          <a:noFill/>
          <a:ln/>
        </p:spPr>
        <p:txBody>
          <a:bodyPr wrap="square" lIns="0" tIns="0" rIns="0" bIns="0" rtlCol="0" anchor="ctr"/>
          <a:lstStyle/>
          <a:p>
            <a:pPr indent="0" marL="0">
              <a:buNone/>
            </a:pPr>
            <a:r>
              <a:rPr lang="en-US" sz="1400" b="1" dirty="0">
                <a:solidFill>
                  <a:srgbClr val="9FB3CC"/>
                </a:solidFill>
                <a:latin typeface="Roboto" pitchFamily="34" charset="0"/>
                <a:ea typeface="Roboto" pitchFamily="34" charset="-122"/>
                <a:cs typeface="Roboto" pitchFamily="34" charset="-120"/>
              </a:rPr>
              <a:t>The true problem:  </a:t>
            </a:r>
            <a:pPr indent="0" marL="0">
              <a:buNone/>
            </a:pPr>
            <a:r>
              <a:rPr lang="en-US" sz="1400" dirty="0">
                <a:solidFill>
                  <a:srgbClr val="FFFFFF"/>
                </a:solidFill>
                <a:latin typeface="Roboto" pitchFamily="34" charset="0"/>
                <a:ea typeface="Roboto" pitchFamily="34" charset="-122"/>
                <a:cs typeface="Roboto" pitchFamily="34" charset="-120"/>
              </a:rPr>
              <a:t>People who have kept photos for years remember an old photo the way memory stores it: who was there, where it was, what was in frame, why they took it. Google Photos accepts only what memory does not keep, an exact date to scroll to or the exact word the index holds. So the photo is not lost. It is unreachable at the moment it is needed.</a:t>
            </a:r>
            <a:endParaRPr lang="en-US" sz="1400" dirty="0"/>
          </a:p>
        </p:txBody>
      </p:sp>
      <p:sp>
        <p:nvSpPr>
          <p:cNvPr id="5" name="Shape 3"/>
          <p:cNvSpPr/>
          <p:nvPr/>
        </p:nvSpPr>
        <p:spPr>
          <a:xfrm>
            <a:off x="548640" y="2212848"/>
            <a:ext cx="3545738" cy="2148840"/>
          </a:xfrm>
          <a:prstGeom prst="roundRect">
            <a:avLst>
              <a:gd name="adj" fmla="val 5106"/>
            </a:avLst>
          </a:prstGeom>
          <a:solidFill>
            <a:srgbClr val="EEF2F6"/>
          </a:solidFill>
          <a:ln w="12700">
            <a:solidFill>
              <a:srgbClr val="EEF2F6"/>
            </a:solidFill>
            <a:prstDash val="solid"/>
          </a:ln>
        </p:spPr>
      </p:sp>
      <p:sp>
        <p:nvSpPr>
          <p:cNvPr id="6" name="Text 4"/>
          <p:cNvSpPr txBox="1"/>
          <p:nvPr/>
        </p:nvSpPr>
        <p:spPr>
          <a:xfrm>
            <a:off x="731520" y="2322576"/>
            <a:ext cx="3179978" cy="274320"/>
          </a:xfrm>
          <a:prstGeom prst="rect">
            <a:avLst/>
          </a:prstGeom>
          <a:noFill/>
          <a:ln/>
        </p:spPr>
        <p:txBody>
          <a:bodyPr wrap="square" lIns="0" tIns="0" rIns="0" bIns="0" rtlCol="0" anchor="t"/>
          <a:lstStyle/>
          <a:p>
            <a:pPr indent="0" marL="0">
              <a:buNone/>
            </a:pPr>
            <a:r>
              <a:rPr lang="en-US" sz="1500" b="1" dirty="0">
                <a:solidFill>
                  <a:srgbClr val="1C5CAB"/>
                </a:solidFill>
                <a:latin typeface="Roboto" pitchFamily="34" charset="0"/>
                <a:ea typeface="Roboto" pitchFamily="34" charset="-122"/>
                <a:cs typeface="Roboto" pitchFamily="34" charset="-120"/>
              </a:rPr>
              <a:t>Who faces it</a:t>
            </a:r>
            <a:endParaRPr lang="en-US" sz="1500" dirty="0"/>
          </a:p>
        </p:txBody>
      </p:sp>
      <p:sp>
        <p:nvSpPr>
          <p:cNvPr id="7" name="Text 5"/>
          <p:cNvSpPr txBox="1"/>
          <p:nvPr/>
        </p:nvSpPr>
        <p:spPr>
          <a:xfrm>
            <a:off x="731520" y="2633472"/>
            <a:ext cx="3179978" cy="45720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Long-tenure users with deep, mixed libraries. Written so an analyst could query it:</a:t>
            </a:r>
            <a:endParaRPr lang="en-US" sz="1400" dirty="0"/>
          </a:p>
        </p:txBody>
      </p:sp>
      <p:sp>
        <p:nvSpPr>
          <p:cNvPr id="8" name="Shape 6"/>
          <p:cNvSpPr/>
          <p:nvPr/>
        </p:nvSpPr>
        <p:spPr>
          <a:xfrm>
            <a:off x="731520" y="3108960"/>
            <a:ext cx="3179978" cy="841248"/>
          </a:xfrm>
          <a:prstGeom prst="roundRect">
            <a:avLst>
              <a:gd name="adj" fmla="val 13043"/>
            </a:avLst>
          </a:prstGeom>
          <a:solidFill>
            <a:srgbClr val="E4EAF1"/>
          </a:solidFill>
          <a:ln w="12700">
            <a:solidFill>
              <a:srgbClr val="E4EAF1"/>
            </a:solidFill>
            <a:prstDash val="solid"/>
          </a:ln>
        </p:spPr>
      </p:sp>
      <p:sp>
        <p:nvSpPr>
          <p:cNvPr id="9" name="Text 7"/>
          <p:cNvSpPr txBox="1"/>
          <p:nvPr/>
        </p:nvSpPr>
        <p:spPr>
          <a:xfrm>
            <a:off x="841248" y="3182112"/>
            <a:ext cx="2960522" cy="731520"/>
          </a:xfrm>
          <a:prstGeom prst="rect">
            <a:avLst/>
          </a:prstGeom>
          <a:noFill/>
          <a:ln/>
        </p:spPr>
        <p:txBody>
          <a:bodyPr wrap="square" lIns="0" tIns="0" rIns="0" bIns="0" rtlCol="0" anchor="t"/>
          <a:lstStyle/>
          <a:p>
            <a:pPr indent="0" marL="0">
              <a:lnSpc>
                <a:spcPct val="95000"/>
              </a:lnSpc>
              <a:buNone/>
            </a:pPr>
            <a:r>
              <a:rPr lang="en-US" sz="1400" dirty="0">
                <a:solidFill>
                  <a:srgbClr val="1C2530"/>
                </a:solidFill>
                <a:latin typeface="Consolas" pitchFamily="34" charset="0"/>
                <a:ea typeface="Consolas" pitchFamily="34" charset="-122"/>
                <a:cs typeface="Consolas" pitchFamily="34" charset="-120"/>
              </a:rPr>
              <a:t>account_age ≥ 3 yrs</a:t>
            </a:r>
            <a:endParaRPr lang="en-US" sz="1400" dirty="0"/>
          </a:p>
          <a:p>
            <a:pPr indent="0" marL="0">
              <a:lnSpc>
                <a:spcPct val="95000"/>
              </a:lnSpc>
              <a:buNone/>
            </a:pPr>
            <a:r>
              <a:rPr lang="en-US" sz="1400" dirty="0">
                <a:solidFill>
                  <a:srgbClr val="1C2530"/>
                </a:solidFill>
                <a:latin typeface="Consolas" pitchFamily="34" charset="0"/>
                <a:ea typeface="Consolas" pitchFamily="34" charset="-122"/>
                <a:cs typeface="Consolas" pitchFamily="34" charset="-120"/>
              </a:rPr>
              <a:t>AND library_size ≥ 2,000</a:t>
            </a:r>
            <a:endParaRPr lang="en-US" sz="1400" dirty="0"/>
          </a:p>
          <a:p>
            <a:pPr indent="0" marL="0">
              <a:lnSpc>
                <a:spcPct val="95000"/>
              </a:lnSpc>
              <a:buNone/>
            </a:pPr>
            <a:r>
              <a:rPr lang="en-US" sz="1400" dirty="0">
                <a:solidFill>
                  <a:srgbClr val="1C2530"/>
                </a:solidFill>
                <a:latin typeface="Consolas" pitchFamily="34" charset="0"/>
                <a:ea typeface="Consolas" pitchFamily="34" charset="-122"/>
                <a:cs typeface="Consolas" pitchFamily="34" charset="-120"/>
              </a:rPr>
              <a:t>AND utility_share ≥ 15%</a:t>
            </a:r>
            <a:endParaRPr lang="en-US" sz="1400" dirty="0"/>
          </a:p>
          <a:p>
            <a:pPr indent="0" marL="0">
              <a:lnSpc>
                <a:spcPct val="95000"/>
              </a:lnSpc>
              <a:buNone/>
            </a:pPr>
            <a:r>
              <a:rPr lang="en-US" sz="1400" dirty="0">
                <a:solidFill>
                  <a:srgbClr val="1C2530"/>
                </a:solidFill>
                <a:latin typeface="Consolas" pitchFamily="34" charset="0"/>
                <a:ea typeface="Consolas" pitchFamily="34" charset="-122"/>
                <a:cs typeface="Consolas" pitchFamily="34" charset="-120"/>
              </a:rPr>
              <a:t>AND ≥1 retrieval of an item &gt;365d old</a:t>
            </a:r>
            <a:endParaRPr lang="en-US" sz="1400" dirty="0"/>
          </a:p>
        </p:txBody>
      </p:sp>
      <p:sp>
        <p:nvSpPr>
          <p:cNvPr id="10" name="Text 8"/>
          <p:cNvSpPr txBox="1"/>
          <p:nvPr/>
        </p:nvSpPr>
        <p:spPr>
          <a:xfrm>
            <a:off x="731520" y="4023360"/>
            <a:ext cx="3179978" cy="36576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Vague memory is a function of library depth. A 400-photo user just scrolls and finds it.</a:t>
            </a:r>
            <a:endParaRPr lang="en-US" sz="1400" dirty="0"/>
          </a:p>
        </p:txBody>
      </p:sp>
      <p:sp>
        <p:nvSpPr>
          <p:cNvPr id="11" name="Shape 9"/>
          <p:cNvSpPr/>
          <p:nvPr/>
        </p:nvSpPr>
        <p:spPr>
          <a:xfrm>
            <a:off x="4322978" y="2212848"/>
            <a:ext cx="3545738" cy="2148840"/>
          </a:xfrm>
          <a:prstGeom prst="roundRect">
            <a:avLst>
              <a:gd name="adj" fmla="val 5106"/>
            </a:avLst>
          </a:prstGeom>
          <a:solidFill>
            <a:srgbClr val="EEF2F6"/>
          </a:solidFill>
          <a:ln w="12700">
            <a:solidFill>
              <a:srgbClr val="EEF2F6"/>
            </a:solidFill>
            <a:prstDash val="solid"/>
          </a:ln>
        </p:spPr>
      </p:sp>
      <p:sp>
        <p:nvSpPr>
          <p:cNvPr id="12" name="Text 10"/>
          <p:cNvSpPr txBox="1"/>
          <p:nvPr/>
        </p:nvSpPr>
        <p:spPr>
          <a:xfrm>
            <a:off x="4505858" y="2322576"/>
            <a:ext cx="3179978" cy="274320"/>
          </a:xfrm>
          <a:prstGeom prst="rect">
            <a:avLst/>
          </a:prstGeom>
          <a:noFill/>
          <a:ln/>
        </p:spPr>
        <p:txBody>
          <a:bodyPr wrap="square" lIns="0" tIns="0" rIns="0" bIns="0" rtlCol="0" anchor="t"/>
          <a:lstStyle/>
          <a:p>
            <a:pPr indent="0" marL="0">
              <a:buNone/>
            </a:pPr>
            <a:r>
              <a:rPr lang="en-US" sz="1500" b="1" dirty="0">
                <a:solidFill>
                  <a:srgbClr val="1C5CAB"/>
                </a:solidFill>
                <a:latin typeface="Roboto" pitchFamily="34" charset="0"/>
                <a:ea typeface="Roboto" pitchFamily="34" charset="-122"/>
                <a:cs typeface="Roboto" pitchFamily="34" charset="-120"/>
              </a:rPr>
              <a:t>How we know it is real</a:t>
            </a:r>
            <a:endParaRPr lang="en-US" sz="1500" dirty="0"/>
          </a:p>
        </p:txBody>
      </p:sp>
      <p:sp>
        <p:nvSpPr>
          <p:cNvPr id="13" name="Text 11"/>
          <p:cNvSpPr txBox="1"/>
          <p:nvPr/>
        </p:nvSpPr>
        <p:spPr>
          <a:xfrm>
            <a:off x="4505858" y="2670048"/>
            <a:ext cx="3179978" cy="201168"/>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6,551 posts → 84 core cases</a:t>
            </a:r>
            <a:endParaRPr lang="en-US" sz="1400" dirty="0"/>
          </a:p>
        </p:txBody>
      </p:sp>
      <p:sp>
        <p:nvSpPr>
          <p:cNvPr id="14" name="Text 12"/>
          <p:cNvSpPr txBox="1"/>
          <p:nvPr/>
        </p:nvSpPr>
        <p:spPr>
          <a:xfrm>
            <a:off x="4505858" y="2862072"/>
            <a:ext cx="3179978" cy="219456"/>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82% of failures: a fair clue misread</a:t>
            </a:r>
            <a:endParaRPr lang="en-US" sz="1400" dirty="0"/>
          </a:p>
        </p:txBody>
      </p:sp>
      <p:sp>
        <p:nvSpPr>
          <p:cNvPr id="15" name="Text 13"/>
          <p:cNvSpPr txBox="1"/>
          <p:nvPr/>
        </p:nvSpPr>
        <p:spPr>
          <a:xfrm>
            <a:off x="4505858" y="3099816"/>
            <a:ext cx="3179978" cy="201168"/>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Survey n=31</a:t>
            </a:r>
            <a:endParaRPr lang="en-US" sz="1400" dirty="0"/>
          </a:p>
        </p:txBody>
      </p:sp>
      <p:sp>
        <p:nvSpPr>
          <p:cNvPr id="16" name="Text 14"/>
          <p:cNvSpPr txBox="1"/>
          <p:nvPr/>
        </p:nvSpPr>
        <p:spPr>
          <a:xfrm>
            <a:off x="4505858" y="3291840"/>
            <a:ext cx="3179978" cy="219456"/>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74% scroll; 61% forgot that date</a:t>
            </a:r>
            <a:endParaRPr lang="en-US" sz="1400" dirty="0"/>
          </a:p>
        </p:txBody>
      </p:sp>
      <p:sp>
        <p:nvSpPr>
          <p:cNvPr id="17" name="Text 15"/>
          <p:cNvSpPr txBox="1"/>
          <p:nvPr/>
        </p:nvSpPr>
        <p:spPr>
          <a:xfrm>
            <a:off x="4505858" y="3529584"/>
            <a:ext cx="3179978" cy="201168"/>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2 live task interviews</a:t>
            </a:r>
            <a:endParaRPr lang="en-US" sz="1400" dirty="0"/>
          </a:p>
        </p:txBody>
      </p:sp>
      <p:sp>
        <p:nvSpPr>
          <p:cNvPr id="18" name="Text 16"/>
          <p:cNvSpPr txBox="1"/>
          <p:nvPr/>
        </p:nvSpPr>
        <p:spPr>
          <a:xfrm>
            <a:off x="4505858" y="3721608"/>
            <a:ext cx="3179978" cy="219456"/>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Both re-did the task instead of finding it</a:t>
            </a:r>
            <a:endParaRPr lang="en-US" sz="1400" dirty="0"/>
          </a:p>
        </p:txBody>
      </p:sp>
      <p:sp>
        <p:nvSpPr>
          <p:cNvPr id="19" name="Text 17"/>
          <p:cNvSpPr txBox="1"/>
          <p:nvPr/>
        </p:nvSpPr>
        <p:spPr>
          <a:xfrm>
            <a:off x="4505858" y="3959352"/>
            <a:ext cx="3179978" cy="201168"/>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Controlled test on the live app</a:t>
            </a:r>
            <a:endParaRPr lang="en-US" sz="1400" dirty="0"/>
          </a:p>
        </p:txBody>
      </p:sp>
      <p:sp>
        <p:nvSpPr>
          <p:cNvPr id="20" name="Text 18"/>
          <p:cNvSpPr txBox="1"/>
          <p:nvPr/>
        </p:nvSpPr>
        <p:spPr>
          <a:xfrm>
            <a:off x="4505858" y="4151376"/>
            <a:ext cx="3179978" cy="219456"/>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Same photo, same word. Only the date phrasing changed.</a:t>
            </a:r>
            <a:endParaRPr lang="en-US" sz="1400" dirty="0"/>
          </a:p>
        </p:txBody>
      </p:sp>
      <p:sp>
        <p:nvSpPr>
          <p:cNvPr id="21" name="Shape 19"/>
          <p:cNvSpPr/>
          <p:nvPr/>
        </p:nvSpPr>
        <p:spPr>
          <a:xfrm>
            <a:off x="8097317" y="2212848"/>
            <a:ext cx="3545738" cy="2148840"/>
          </a:xfrm>
          <a:prstGeom prst="roundRect">
            <a:avLst>
              <a:gd name="adj" fmla="val 5106"/>
            </a:avLst>
          </a:prstGeom>
          <a:solidFill>
            <a:srgbClr val="EEF2F6"/>
          </a:solidFill>
          <a:ln w="12700">
            <a:solidFill>
              <a:srgbClr val="EEF2F6"/>
            </a:solidFill>
            <a:prstDash val="solid"/>
          </a:ln>
        </p:spPr>
      </p:sp>
      <p:sp>
        <p:nvSpPr>
          <p:cNvPr id="22" name="Text 20"/>
          <p:cNvSpPr txBox="1"/>
          <p:nvPr/>
        </p:nvSpPr>
        <p:spPr>
          <a:xfrm>
            <a:off x="8280197" y="2322576"/>
            <a:ext cx="3179978" cy="274320"/>
          </a:xfrm>
          <a:prstGeom prst="rect">
            <a:avLst/>
          </a:prstGeom>
          <a:noFill/>
          <a:ln/>
        </p:spPr>
        <p:txBody>
          <a:bodyPr wrap="square" lIns="0" tIns="0" rIns="0" bIns="0" rtlCol="0" anchor="t"/>
          <a:lstStyle/>
          <a:p>
            <a:pPr indent="0" marL="0">
              <a:buNone/>
            </a:pPr>
            <a:r>
              <a:rPr lang="en-US" sz="1500" b="1" dirty="0">
                <a:solidFill>
                  <a:srgbClr val="1C5CAB"/>
                </a:solidFill>
                <a:latin typeface="Roboto" pitchFamily="34" charset="0"/>
                <a:ea typeface="Roboto" pitchFamily="34" charset="-122"/>
                <a:cs typeface="Roboto" pitchFamily="34" charset="-120"/>
              </a:rPr>
              <a:t>Why now</a:t>
            </a:r>
            <a:endParaRPr lang="en-US" sz="1500" dirty="0"/>
          </a:p>
        </p:txBody>
      </p:sp>
      <p:sp>
        <p:nvSpPr>
          <p:cNvPr id="23" name="Text 21"/>
          <p:cNvSpPr txBox="1"/>
          <p:nvPr/>
        </p:nvSpPr>
        <p:spPr>
          <a:xfrm>
            <a:off x="8280197" y="2651760"/>
            <a:ext cx="3179978" cy="1645920"/>
          </a:xfrm>
          <a:prstGeom prst="rect">
            <a:avLst/>
          </a:prstGeom>
          <a:noFill/>
          <a:ln/>
        </p:spPr>
        <p:txBody>
          <a:bodyPr wrap="square" lIns="0" tIns="0" rIns="0" bIns="0" rtlCol="0" anchor="t"/>
          <a:lstStyle/>
          <a:p>
            <a:pPr indent="0" marL="0">
              <a:spcAft>
                <a:spcPts val="500"/>
              </a:spcAft>
              <a:buNone/>
            </a:pPr>
            <a:r>
              <a:rPr lang="en-US" sz="1400" b="1" dirty="0">
                <a:solidFill>
                  <a:srgbClr val="1C2530"/>
                </a:solidFill>
                <a:latin typeface="Roboto" pitchFamily="34" charset="0"/>
                <a:ea typeface="Roboto" pitchFamily="34" charset="-122"/>
                <a:cs typeface="Roboto" pitchFamily="34" charset="-120"/>
              </a:rPr>
              <a:t>The capability already ships. </a:t>
            </a:r>
            <a:pPr indent="0" marL="0">
              <a:spcAft>
                <a:spcPts val="500"/>
              </a:spcAft>
              <a:buNone/>
            </a:pPr>
            <a:r>
              <a:rPr lang="en-US" sz="1400" dirty="0">
                <a:solidFill>
                  <a:srgbClr val="1C2530"/>
                </a:solidFill>
                <a:latin typeface="Roboto" pitchFamily="34" charset="0"/>
                <a:ea typeface="Roboto" pitchFamily="34" charset="-122"/>
                <a:cs typeface="Roboto" pitchFamily="34" charset="-120"/>
              </a:rPr>
              <a:t>“august 2025” returns an itemised answer instantly. This is a disambiguation fix, not new ML.</a:t>
            </a:r>
            <a:endParaRPr lang="en-US" sz="1400" dirty="0"/>
          </a:p>
          <a:p>
            <a:pPr indent="0" marL="0">
              <a:spcAft>
                <a:spcPts val="500"/>
              </a:spcAft>
              <a:buNone/>
            </a:pPr>
            <a:r>
              <a:rPr lang="en-US" sz="1400" b="1" dirty="0">
                <a:solidFill>
                  <a:srgbClr val="1C2530"/>
                </a:solidFill>
                <a:latin typeface="Roboto" pitchFamily="34" charset="0"/>
                <a:ea typeface="Roboto" pitchFamily="34" charset="-122"/>
                <a:cs typeface="Roboto" pitchFamily="34" charset="-120"/>
              </a:rPr>
              <a:t>The trust window is closing. </a:t>
            </a:r>
            <a:pPr indent="0" marL="0">
              <a:spcAft>
                <a:spcPts val="500"/>
              </a:spcAft>
              <a:buNone/>
            </a:pPr>
            <a:r>
              <a:rPr lang="en-US" sz="1400" dirty="0">
                <a:solidFill>
                  <a:srgbClr val="1C2530"/>
                </a:solidFill>
                <a:latin typeface="Roboto" pitchFamily="34" charset="0"/>
                <a:ea typeface="Roboto" pitchFamily="34" charset="-122"/>
                <a:cs typeface="Roboto" pitchFamily="34" charset="-120"/>
              </a:rPr>
              <a:t>Ask Photos was paused in 2026 and classic search restored beside it. Users are being taught the AI path is the unreliable one.</a:t>
            </a:r>
            <a:endParaRPr lang="en-US" sz="1400" dirty="0"/>
          </a:p>
          <a:p>
            <a:pPr indent="0" marL="0">
              <a:spcAft>
                <a:spcPts val="500"/>
              </a:spcAft>
              <a:buNone/>
            </a:pPr>
            <a:r>
              <a:rPr lang="en-US" sz="1400" b="1" dirty="0">
                <a:solidFill>
                  <a:srgbClr val="1C2530"/>
                </a:solidFill>
                <a:latin typeface="Roboto" pitchFamily="34" charset="0"/>
                <a:ea typeface="Roboto" pitchFamily="34" charset="-122"/>
                <a:cs typeface="Roboto" pitchFamily="34" charset="-120"/>
              </a:rPr>
              <a:t>Libraries only get deeper. </a:t>
            </a:r>
            <a:pPr indent="0" marL="0">
              <a:spcAft>
                <a:spcPts val="500"/>
              </a:spcAft>
              <a:buNone/>
            </a:pPr>
            <a:r>
              <a:rPr lang="en-US" sz="1400" dirty="0">
                <a:solidFill>
                  <a:srgbClr val="1C2530"/>
                </a:solidFill>
                <a:latin typeface="Roboto" pitchFamily="34" charset="0"/>
                <a:ea typeface="Roboto" pitchFamily="34" charset="-122"/>
                <a:cs typeface="Roboto" pitchFamily="34" charset="-120"/>
              </a:rPr>
              <a:t>The condition for the problem is elapsed time, so the segment grows every month.</a:t>
            </a:r>
            <a:endParaRPr lang="en-US" sz="1400" dirty="0"/>
          </a:p>
        </p:txBody>
      </p:sp>
      <p:sp>
        <p:nvSpPr>
          <p:cNvPr id="24" name="Shape 22"/>
          <p:cNvSpPr/>
          <p:nvPr/>
        </p:nvSpPr>
        <p:spPr>
          <a:xfrm>
            <a:off x="548640" y="4526280"/>
            <a:ext cx="11094415" cy="713232"/>
          </a:xfrm>
          <a:prstGeom prst="roundRect">
            <a:avLst>
              <a:gd name="adj" fmla="val 15385"/>
            </a:avLst>
          </a:prstGeom>
          <a:solidFill>
            <a:srgbClr val="E4EAF1"/>
          </a:solidFill>
          <a:ln w="12700">
            <a:solidFill>
              <a:srgbClr val="E4EAF1"/>
            </a:solidFill>
            <a:prstDash val="solid"/>
          </a:ln>
        </p:spPr>
      </p:sp>
      <p:sp>
        <p:nvSpPr>
          <p:cNvPr id="25" name="Text 23"/>
          <p:cNvSpPr txBox="1"/>
          <p:nvPr/>
        </p:nvSpPr>
        <p:spPr>
          <a:xfrm>
            <a:off x="749808" y="4745736"/>
            <a:ext cx="1188720" cy="274320"/>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Impact sizing</a:t>
            </a:r>
            <a:endParaRPr lang="en-US" sz="1400" dirty="0"/>
          </a:p>
        </p:txBody>
      </p:sp>
      <p:sp>
        <p:nvSpPr>
          <p:cNvPr id="26" name="Text 24"/>
          <p:cNvSpPr txBox="1"/>
          <p:nvPr/>
        </p:nvSpPr>
        <p:spPr>
          <a:xfrm>
            <a:off x="2057400" y="4617720"/>
            <a:ext cx="1828800" cy="310896"/>
          </a:xfrm>
          <a:prstGeom prst="rect">
            <a:avLst/>
          </a:prstGeom>
          <a:noFill/>
          <a:ln/>
        </p:spPr>
        <p:txBody>
          <a:bodyPr wrap="square" lIns="0" tIns="0" rIns="0" bIns="0" rtlCol="0" anchor="t"/>
          <a:lstStyle/>
          <a:p>
            <a:pPr indent="0" marL="0">
              <a:buNone/>
            </a:pPr>
            <a:r>
              <a:rPr lang="en-US" sz="1700" b="1" dirty="0">
                <a:solidFill>
                  <a:srgbClr val="1C2530"/>
                </a:solidFill>
                <a:latin typeface="Roboto" pitchFamily="34" charset="0"/>
                <a:ea typeface="Roboto" pitchFamily="34" charset="-122"/>
                <a:cs typeface="Roboto" pitchFamily="34" charset="-120"/>
              </a:rPr>
              <a:t>1.5B</a:t>
            </a:r>
            <a:endParaRPr lang="en-US" sz="1700" dirty="0"/>
          </a:p>
        </p:txBody>
      </p:sp>
      <p:sp>
        <p:nvSpPr>
          <p:cNvPr id="27" name="Text 25"/>
          <p:cNvSpPr txBox="1"/>
          <p:nvPr/>
        </p:nvSpPr>
        <p:spPr>
          <a:xfrm>
            <a:off x="2057400" y="4928616"/>
            <a:ext cx="1828800"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monthly users</a:t>
            </a:r>
            <a:endParaRPr lang="en-US" sz="1400" dirty="0"/>
          </a:p>
        </p:txBody>
      </p:sp>
      <p:sp>
        <p:nvSpPr>
          <p:cNvPr id="28" name="Text 26"/>
          <p:cNvSpPr txBox="1"/>
          <p:nvPr/>
        </p:nvSpPr>
        <p:spPr>
          <a:xfrm>
            <a:off x="4050792" y="4617720"/>
            <a:ext cx="1828800" cy="310896"/>
          </a:xfrm>
          <a:prstGeom prst="rect">
            <a:avLst/>
          </a:prstGeom>
          <a:noFill/>
          <a:ln/>
        </p:spPr>
        <p:txBody>
          <a:bodyPr wrap="square" lIns="0" tIns="0" rIns="0" bIns="0" rtlCol="0" anchor="t"/>
          <a:lstStyle/>
          <a:p>
            <a:pPr indent="0" marL="0">
              <a:buNone/>
            </a:pPr>
            <a:r>
              <a:rPr lang="en-US" sz="1700" b="1" dirty="0">
                <a:solidFill>
                  <a:srgbClr val="1C2530"/>
                </a:solidFill>
                <a:latin typeface="Roboto" pitchFamily="34" charset="0"/>
                <a:ea typeface="Roboto" pitchFamily="34" charset="-122"/>
                <a:cs typeface="Roboto" pitchFamily="34" charset="-120"/>
              </a:rPr>
              <a:t>× 35%</a:t>
            </a:r>
            <a:endParaRPr lang="en-US" sz="1700" dirty="0"/>
          </a:p>
        </p:txBody>
      </p:sp>
      <p:sp>
        <p:nvSpPr>
          <p:cNvPr id="29" name="Text 27"/>
          <p:cNvSpPr txBox="1"/>
          <p:nvPr/>
        </p:nvSpPr>
        <p:spPr>
          <a:xfrm>
            <a:off x="4050792" y="4928616"/>
            <a:ext cx="1828800"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deep, mixed libraries</a:t>
            </a:r>
            <a:endParaRPr lang="en-US" sz="1400" dirty="0"/>
          </a:p>
        </p:txBody>
      </p:sp>
      <p:sp>
        <p:nvSpPr>
          <p:cNvPr id="30" name="Text 28"/>
          <p:cNvSpPr txBox="1"/>
          <p:nvPr/>
        </p:nvSpPr>
        <p:spPr>
          <a:xfrm>
            <a:off x="6044184" y="4617720"/>
            <a:ext cx="1828800" cy="310896"/>
          </a:xfrm>
          <a:prstGeom prst="rect">
            <a:avLst/>
          </a:prstGeom>
          <a:noFill/>
          <a:ln/>
        </p:spPr>
        <p:txBody>
          <a:bodyPr wrap="square" lIns="0" tIns="0" rIns="0" bIns="0" rtlCol="0" anchor="t"/>
          <a:lstStyle/>
          <a:p>
            <a:pPr indent="0" marL="0">
              <a:buNone/>
            </a:pPr>
            <a:r>
              <a:rPr lang="en-US" sz="1700" b="1" dirty="0">
                <a:solidFill>
                  <a:srgbClr val="1C2530"/>
                </a:solidFill>
                <a:latin typeface="Roboto" pitchFamily="34" charset="0"/>
                <a:ea typeface="Roboto" pitchFamily="34" charset="-122"/>
                <a:cs typeface="Roboto" pitchFamily="34" charset="-120"/>
              </a:rPr>
              <a:t>= 525M</a:t>
            </a:r>
            <a:endParaRPr lang="en-US" sz="1700" dirty="0"/>
          </a:p>
        </p:txBody>
      </p:sp>
      <p:sp>
        <p:nvSpPr>
          <p:cNvPr id="31" name="Text 29"/>
          <p:cNvSpPr txBox="1"/>
          <p:nvPr/>
        </p:nvSpPr>
        <p:spPr>
          <a:xfrm>
            <a:off x="6044184" y="4928616"/>
            <a:ext cx="1828800"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segment</a:t>
            </a:r>
            <a:endParaRPr lang="en-US" sz="1400" dirty="0"/>
          </a:p>
        </p:txBody>
      </p:sp>
      <p:sp>
        <p:nvSpPr>
          <p:cNvPr id="32" name="Text 30"/>
          <p:cNvSpPr txBox="1"/>
          <p:nvPr/>
        </p:nvSpPr>
        <p:spPr>
          <a:xfrm>
            <a:off x="8037576" y="4617720"/>
            <a:ext cx="1828800" cy="310896"/>
          </a:xfrm>
          <a:prstGeom prst="rect">
            <a:avLst/>
          </a:prstGeom>
          <a:noFill/>
          <a:ln/>
        </p:spPr>
        <p:txBody>
          <a:bodyPr wrap="square" lIns="0" tIns="0" rIns="0" bIns="0" rtlCol="0" anchor="t"/>
          <a:lstStyle/>
          <a:p>
            <a:pPr indent="0" marL="0">
              <a:buNone/>
            </a:pPr>
            <a:r>
              <a:rPr lang="en-US" sz="1700" b="1" dirty="0">
                <a:solidFill>
                  <a:srgbClr val="1C2530"/>
                </a:solidFill>
                <a:latin typeface="Roboto" pitchFamily="34" charset="0"/>
                <a:ea typeface="Roboto" pitchFamily="34" charset="-122"/>
                <a:cs typeface="Roboto" pitchFamily="34" charset="-120"/>
              </a:rPr>
              <a:t>× 52%</a:t>
            </a:r>
            <a:endParaRPr lang="en-US" sz="1700" dirty="0"/>
          </a:p>
        </p:txBody>
      </p:sp>
      <p:sp>
        <p:nvSpPr>
          <p:cNvPr id="33" name="Text 31"/>
          <p:cNvSpPr txBox="1"/>
          <p:nvPr/>
        </p:nvSpPr>
        <p:spPr>
          <a:xfrm>
            <a:off x="8037576" y="4928616"/>
            <a:ext cx="1828800"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fail monthly+</a:t>
            </a:r>
            <a:endParaRPr lang="en-US" sz="1400" dirty="0"/>
          </a:p>
        </p:txBody>
      </p:sp>
      <p:sp>
        <p:nvSpPr>
          <p:cNvPr id="34" name="Text 32"/>
          <p:cNvSpPr txBox="1"/>
          <p:nvPr/>
        </p:nvSpPr>
        <p:spPr>
          <a:xfrm>
            <a:off x="10030968" y="4617720"/>
            <a:ext cx="1828800" cy="310896"/>
          </a:xfrm>
          <a:prstGeom prst="rect">
            <a:avLst/>
          </a:prstGeom>
          <a:noFill/>
          <a:ln/>
        </p:spPr>
        <p:txBody>
          <a:bodyPr wrap="square" lIns="0" tIns="0" rIns="0" bIns="0" rtlCol="0" anchor="t"/>
          <a:lstStyle/>
          <a:p>
            <a:pPr indent="0" marL="0">
              <a:buNone/>
            </a:pPr>
            <a:r>
              <a:rPr lang="en-US" sz="1700" b="1" dirty="0">
                <a:solidFill>
                  <a:srgbClr val="B04515"/>
                </a:solidFill>
                <a:latin typeface="Roboto" pitchFamily="34" charset="0"/>
                <a:ea typeface="Roboto" pitchFamily="34" charset="-122"/>
                <a:cs typeface="Roboto" pitchFamily="34" charset="-120"/>
              </a:rPr>
              <a:t>= 273M</a:t>
            </a:r>
            <a:endParaRPr lang="en-US" sz="1700" dirty="0"/>
          </a:p>
        </p:txBody>
      </p:sp>
      <p:sp>
        <p:nvSpPr>
          <p:cNvPr id="35" name="Text 33"/>
          <p:cNvSpPr txBox="1"/>
          <p:nvPr/>
        </p:nvSpPr>
        <p:spPr>
          <a:xfrm>
            <a:off x="10030968" y="4928616"/>
            <a:ext cx="1828800" cy="23774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failing every month</a:t>
            </a:r>
            <a:endParaRPr lang="en-US" sz="1400" dirty="0"/>
          </a:p>
        </p:txBody>
      </p:sp>
      <p:sp>
        <p:nvSpPr>
          <p:cNvPr id="36" name="Shape 34"/>
          <p:cNvSpPr/>
          <p:nvPr/>
        </p:nvSpPr>
        <p:spPr>
          <a:xfrm>
            <a:off x="548640" y="5349240"/>
            <a:ext cx="5410048" cy="914400"/>
          </a:xfrm>
          <a:prstGeom prst="roundRect">
            <a:avLst>
              <a:gd name="adj" fmla="val 12000"/>
            </a:avLst>
          </a:prstGeom>
          <a:solidFill>
            <a:srgbClr val="FDEEE6"/>
          </a:solidFill>
          <a:ln w="12700">
            <a:solidFill>
              <a:srgbClr val="FDEEE6"/>
            </a:solidFill>
            <a:prstDash val="solid"/>
          </a:ln>
        </p:spPr>
      </p:sp>
      <p:sp>
        <p:nvSpPr>
          <p:cNvPr id="37" name="Text 35"/>
          <p:cNvSpPr txBox="1"/>
          <p:nvPr/>
        </p:nvSpPr>
        <p:spPr>
          <a:xfrm>
            <a:off x="749808" y="5440680"/>
            <a:ext cx="5007712" cy="237744"/>
          </a:xfrm>
          <a:prstGeom prst="rect">
            <a:avLst/>
          </a:prstGeom>
          <a:noFill/>
          <a:ln/>
        </p:spPr>
        <p:txBody>
          <a:bodyPr wrap="square" lIns="0" tIns="0" rIns="0" bIns="0" rtlCol="0" anchor="t"/>
          <a:lstStyle/>
          <a:p>
            <a:pPr indent="0" marL="0">
              <a:buNone/>
            </a:pPr>
            <a:r>
              <a:rPr lang="en-US" sz="1400" b="1" dirty="0">
                <a:solidFill>
                  <a:srgbClr val="B04515"/>
                </a:solidFill>
                <a:latin typeface="Roboto" pitchFamily="34" charset="0"/>
                <a:ea typeface="Roboto" pitchFamily="34" charset="-122"/>
                <a:cs typeface="Roboto" pitchFamily="34" charset="-120"/>
              </a:rPr>
              <a:t>Value for users</a:t>
            </a:r>
            <a:endParaRPr lang="en-US" sz="1400" dirty="0"/>
          </a:p>
        </p:txBody>
      </p:sp>
      <p:sp>
        <p:nvSpPr>
          <p:cNvPr id="38" name="Text 36"/>
          <p:cNvSpPr txBox="1"/>
          <p:nvPr/>
        </p:nvSpPr>
        <p:spPr>
          <a:xfrm>
            <a:off x="749808" y="5696712"/>
            <a:ext cx="5007712" cy="50292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Documents arrive when they are needed · moments arrive while they still matter · the archive keeps the one promise it makes.</a:t>
            </a:r>
            <a:endParaRPr lang="en-US" sz="1400" dirty="0"/>
          </a:p>
        </p:txBody>
      </p:sp>
      <p:sp>
        <p:nvSpPr>
          <p:cNvPr id="39" name="Shape 37"/>
          <p:cNvSpPr/>
          <p:nvPr/>
        </p:nvSpPr>
        <p:spPr>
          <a:xfrm>
            <a:off x="6233008" y="5349240"/>
            <a:ext cx="5410048" cy="914400"/>
          </a:xfrm>
          <a:prstGeom prst="roundRect">
            <a:avLst>
              <a:gd name="adj" fmla="val 12000"/>
            </a:avLst>
          </a:prstGeom>
          <a:solidFill>
            <a:srgbClr val="EEF2F6"/>
          </a:solidFill>
          <a:ln w="12700">
            <a:solidFill>
              <a:srgbClr val="EEF2F6"/>
            </a:solidFill>
            <a:prstDash val="solid"/>
          </a:ln>
        </p:spPr>
      </p:sp>
      <p:sp>
        <p:nvSpPr>
          <p:cNvPr id="40" name="Text 38"/>
          <p:cNvSpPr txBox="1"/>
          <p:nvPr/>
        </p:nvSpPr>
        <p:spPr>
          <a:xfrm>
            <a:off x="6434176" y="5440680"/>
            <a:ext cx="5007712" cy="237744"/>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Value for Google Photos</a:t>
            </a:r>
            <a:endParaRPr lang="en-US" sz="1400" dirty="0"/>
          </a:p>
        </p:txBody>
      </p:sp>
      <p:sp>
        <p:nvSpPr>
          <p:cNvPr id="41" name="Text 39"/>
          <p:cNvSpPr txBox="1"/>
          <p:nvPr/>
        </p:nvSpPr>
        <p:spPr>
          <a:xfrm>
            <a:off x="6434176" y="5696712"/>
            <a:ext cx="5007712" cy="50292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Retrieval is the only reason a 15-year archive stays put, and deep libraries are the paying libraries. Today this failure is invisible in telemetry because people route around 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28455" y="91440"/>
            <a:ext cx="2514600" cy="292608"/>
          </a:xfrm>
          <a:prstGeom prst="roundRect">
            <a:avLst>
              <a:gd name="adj" fmla="val 50000"/>
            </a:avLst>
          </a:prstGeom>
          <a:solidFill>
            <a:srgbClr val="FFF1E8"/>
          </a:solidFill>
          <a:ln w="12700">
            <a:solidFill>
              <a:srgbClr val="B04515"/>
            </a:solidFill>
            <a:prstDash val="solid"/>
          </a:ln>
        </p:spPr>
      </p:sp>
      <p:sp>
        <p:nvSpPr>
          <p:cNvPr id="3" name="Text 1"/>
          <p:cNvSpPr txBox="1"/>
          <p:nvPr/>
        </p:nvSpPr>
        <p:spPr>
          <a:xfrm>
            <a:off x="9128455" y="109728"/>
            <a:ext cx="2514600" cy="256032"/>
          </a:xfrm>
          <a:prstGeom prst="rect">
            <a:avLst/>
          </a:prstGeom>
          <a:noFill/>
          <a:ln/>
        </p:spPr>
        <p:txBody>
          <a:bodyPr wrap="square" lIns="0" tIns="0" rIns="0" bIns="0" rtlCol="0" anchor="ctr"/>
          <a:lstStyle/>
          <a:p>
            <a:pPr algn="ctr" indent="0" marL="0">
              <a:buNone/>
            </a:pPr>
            <a:r>
              <a:rPr lang="en-US" sz="1400" b="1" dirty="0">
                <a:solidFill>
                  <a:srgbClr val="B04515"/>
                </a:solidFill>
                <a:latin typeface="Roboto" pitchFamily="34" charset="0"/>
                <a:ea typeface="Roboto" pitchFamily="34" charset="-122"/>
                <a:cs typeface="Roboto" pitchFamily="34" charset="-120"/>
              </a:rPr>
              <a:t>TO COMPLETE: MVP in build</a:t>
            </a:r>
            <a:endParaRPr lang="en-US" sz="1400" dirty="0"/>
          </a:p>
        </p:txBody>
      </p:sp>
      <p:sp>
        <p:nvSpPr>
          <p:cNvPr id="4" name="Text 2"/>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The widest-reach idea scored lowest, because nobody asked for it. We bet on the one we can prove</a:t>
            </a:r>
            <a:endParaRPr lang="en-US" sz="2500" dirty="0"/>
          </a:p>
        </p:txBody>
      </p:sp>
      <p:sp>
        <p:nvSpPr>
          <p:cNvPr id="5" name="Shape 3"/>
          <p:cNvSpPr/>
          <p:nvPr/>
        </p:nvSpPr>
        <p:spPr>
          <a:xfrm>
            <a:off x="548640" y="1234440"/>
            <a:ext cx="3527450" cy="2514600"/>
          </a:xfrm>
          <a:prstGeom prst="roundRect">
            <a:avLst>
              <a:gd name="adj" fmla="val 4364"/>
            </a:avLst>
          </a:prstGeom>
          <a:solidFill>
            <a:srgbClr val="E8F0FB"/>
          </a:solidFill>
          <a:ln w="12700">
            <a:solidFill>
              <a:srgbClr val="2A78D6"/>
            </a:solidFill>
            <a:prstDash val="solid"/>
          </a:ln>
        </p:spPr>
      </p:sp>
      <p:sp>
        <p:nvSpPr>
          <p:cNvPr id="6" name="Text 4"/>
          <p:cNvSpPr txBox="1"/>
          <p:nvPr/>
        </p:nvSpPr>
        <p:spPr>
          <a:xfrm>
            <a:off x="731520" y="1353312"/>
            <a:ext cx="3161690" cy="274320"/>
          </a:xfrm>
          <a:prstGeom prst="rect">
            <a:avLst/>
          </a:prstGeom>
          <a:noFill/>
          <a:ln/>
        </p:spPr>
        <p:txBody>
          <a:bodyPr wrap="square" lIns="0" tIns="0" rIns="0" bIns="0" rtlCol="0" anchor="t"/>
          <a:lstStyle/>
          <a:p>
            <a:pPr indent="0" marL="0">
              <a:buNone/>
            </a:pPr>
            <a:r>
              <a:rPr lang="en-US" sz="1500" b="1" dirty="0">
                <a:solidFill>
                  <a:srgbClr val="1C5CAB"/>
                </a:solidFill>
                <a:latin typeface="Roboto" pitchFamily="34" charset="0"/>
                <a:ea typeface="Roboto" pitchFamily="34" charset="-122"/>
                <a:cs typeface="Roboto" pitchFamily="34" charset="-120"/>
              </a:rPr>
              <a:t>S1 · Never guess silently</a:t>
            </a:r>
            <a:endParaRPr lang="en-US" sz="1500" dirty="0"/>
          </a:p>
        </p:txBody>
      </p:sp>
      <p:sp>
        <p:nvSpPr>
          <p:cNvPr id="7" name="Text 5"/>
          <p:cNvSpPr txBox="1"/>
          <p:nvPr/>
        </p:nvSpPr>
        <p:spPr>
          <a:xfrm>
            <a:off x="731520" y="1673352"/>
            <a:ext cx="3161690" cy="123444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Stop resolving an ambiguous date in silence. Ask one question (“August 2025 or 2026?”) or show both windows labelled. Accept several cues at once, say why each result matched, and narrow on a miss instead of returning nothing.</a:t>
            </a:r>
            <a:endParaRPr lang="en-US" sz="1400" dirty="0"/>
          </a:p>
        </p:txBody>
      </p:sp>
      <p:sp>
        <p:nvSpPr>
          <p:cNvPr id="8" name="Text 6"/>
          <p:cNvSpPr txBox="1"/>
          <p:nvPr/>
        </p:nvSpPr>
        <p:spPr>
          <a:xfrm>
            <a:off x="731520" y="2971800"/>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Reach 8</a:t>
            </a:r>
            <a:endParaRPr lang="en-US" sz="1400" dirty="0"/>
          </a:p>
        </p:txBody>
      </p:sp>
      <p:sp>
        <p:nvSpPr>
          <p:cNvPr id="9" name="Text 7"/>
          <p:cNvSpPr txBox="1"/>
          <p:nvPr/>
        </p:nvSpPr>
        <p:spPr>
          <a:xfrm>
            <a:off x="2331720" y="2971800"/>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Impact 9</a:t>
            </a:r>
            <a:endParaRPr lang="en-US" sz="1400" dirty="0"/>
          </a:p>
        </p:txBody>
      </p:sp>
      <p:sp>
        <p:nvSpPr>
          <p:cNvPr id="10" name="Text 8"/>
          <p:cNvSpPr txBox="1"/>
          <p:nvPr/>
        </p:nvSpPr>
        <p:spPr>
          <a:xfrm>
            <a:off x="731520" y="3227832"/>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Confidence 9</a:t>
            </a:r>
            <a:endParaRPr lang="en-US" sz="1400" dirty="0"/>
          </a:p>
        </p:txBody>
      </p:sp>
      <p:sp>
        <p:nvSpPr>
          <p:cNvPr id="11" name="Text 9"/>
          <p:cNvSpPr txBox="1"/>
          <p:nvPr/>
        </p:nvSpPr>
        <p:spPr>
          <a:xfrm>
            <a:off x="2331720" y="3227832"/>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Effort 2</a:t>
            </a:r>
            <a:endParaRPr lang="en-US" sz="1400" dirty="0"/>
          </a:p>
        </p:txBody>
      </p:sp>
      <p:sp>
        <p:nvSpPr>
          <p:cNvPr id="12" name="Text 10"/>
          <p:cNvSpPr txBox="1"/>
          <p:nvPr/>
        </p:nvSpPr>
        <p:spPr>
          <a:xfrm>
            <a:off x="731520" y="3447288"/>
            <a:ext cx="3161690" cy="256032"/>
          </a:xfrm>
          <a:prstGeom prst="rect">
            <a:avLst/>
          </a:prstGeom>
          <a:noFill/>
          <a:ln/>
        </p:spPr>
        <p:txBody>
          <a:bodyPr wrap="square" lIns="0" tIns="0" rIns="0" bIns="0" rtlCol="0" anchor="t"/>
          <a:lstStyle/>
          <a:p>
            <a:pPr indent="0" marL="0">
              <a:buNone/>
            </a:pPr>
            <a:r>
              <a:rPr lang="en-US" sz="1500" b="1" dirty="0">
                <a:solidFill>
                  <a:srgbClr val="1C5CAB"/>
                </a:solidFill>
                <a:latin typeface="Roboto" pitchFamily="34" charset="0"/>
                <a:ea typeface="Roboto" pitchFamily="34" charset="-122"/>
                <a:cs typeface="Roboto" pitchFamily="34" charset="-120"/>
              </a:rPr>
              <a:t>RICE 324</a:t>
            </a:r>
            <a:endParaRPr lang="en-US" sz="1500" dirty="0"/>
          </a:p>
        </p:txBody>
      </p:sp>
      <p:sp>
        <p:nvSpPr>
          <p:cNvPr id="13" name="Shape 11"/>
          <p:cNvSpPr/>
          <p:nvPr/>
        </p:nvSpPr>
        <p:spPr>
          <a:xfrm>
            <a:off x="4332122" y="1234440"/>
            <a:ext cx="3527450" cy="2514600"/>
          </a:xfrm>
          <a:prstGeom prst="roundRect">
            <a:avLst>
              <a:gd name="adj" fmla="val 4364"/>
            </a:avLst>
          </a:prstGeom>
          <a:solidFill>
            <a:srgbClr val="EEF2F6"/>
          </a:solidFill>
          <a:ln w="12700">
            <a:solidFill>
              <a:srgbClr val="EEF2F6"/>
            </a:solidFill>
            <a:prstDash val="solid"/>
          </a:ln>
        </p:spPr>
      </p:sp>
      <p:sp>
        <p:nvSpPr>
          <p:cNvPr id="14" name="Text 12"/>
          <p:cNvSpPr txBox="1"/>
          <p:nvPr/>
        </p:nvSpPr>
        <p:spPr>
          <a:xfrm>
            <a:off x="4515002" y="1353312"/>
            <a:ext cx="3161690" cy="27432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S2 · Memory anchors</a:t>
            </a:r>
            <a:endParaRPr lang="en-US" sz="1500" dirty="0"/>
          </a:p>
        </p:txBody>
      </p:sp>
      <p:sp>
        <p:nvSpPr>
          <p:cNvPr id="15" name="Text 13"/>
          <p:cNvSpPr txBox="1"/>
          <p:nvPr/>
        </p:nvSpPr>
        <p:spPr>
          <a:xfrm>
            <a:off x="4515002" y="1673352"/>
            <a:ext cx="3161690" cy="123444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Replace the date axis. Derive landmarks from the library itself (trips, a house move, a new face) and let people browse by “around when we moved” instead of by month.</a:t>
            </a:r>
            <a:endParaRPr lang="en-US" sz="1400" dirty="0"/>
          </a:p>
        </p:txBody>
      </p:sp>
      <p:sp>
        <p:nvSpPr>
          <p:cNvPr id="16" name="Text 14"/>
          <p:cNvSpPr txBox="1"/>
          <p:nvPr/>
        </p:nvSpPr>
        <p:spPr>
          <a:xfrm>
            <a:off x="4515002" y="2971800"/>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Reach 10</a:t>
            </a:r>
            <a:endParaRPr lang="en-US" sz="1400" dirty="0"/>
          </a:p>
        </p:txBody>
      </p:sp>
      <p:sp>
        <p:nvSpPr>
          <p:cNvPr id="17" name="Text 15"/>
          <p:cNvSpPr txBox="1"/>
          <p:nvPr/>
        </p:nvSpPr>
        <p:spPr>
          <a:xfrm>
            <a:off x="6115202" y="2971800"/>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Impact 7</a:t>
            </a:r>
            <a:endParaRPr lang="en-US" sz="1400" dirty="0"/>
          </a:p>
        </p:txBody>
      </p:sp>
      <p:sp>
        <p:nvSpPr>
          <p:cNvPr id="18" name="Text 16"/>
          <p:cNvSpPr txBox="1"/>
          <p:nvPr/>
        </p:nvSpPr>
        <p:spPr>
          <a:xfrm>
            <a:off x="4515002" y="3227832"/>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Confidence 4</a:t>
            </a:r>
            <a:endParaRPr lang="en-US" sz="1400" dirty="0"/>
          </a:p>
        </p:txBody>
      </p:sp>
      <p:sp>
        <p:nvSpPr>
          <p:cNvPr id="19" name="Text 17"/>
          <p:cNvSpPr txBox="1"/>
          <p:nvPr/>
        </p:nvSpPr>
        <p:spPr>
          <a:xfrm>
            <a:off x="6115202" y="3227832"/>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Effort 8</a:t>
            </a:r>
            <a:endParaRPr lang="en-US" sz="1400" dirty="0"/>
          </a:p>
        </p:txBody>
      </p:sp>
      <p:sp>
        <p:nvSpPr>
          <p:cNvPr id="20" name="Text 18"/>
          <p:cNvSpPr txBox="1"/>
          <p:nvPr/>
        </p:nvSpPr>
        <p:spPr>
          <a:xfrm>
            <a:off x="4515002" y="3447288"/>
            <a:ext cx="3161690" cy="256032"/>
          </a:xfrm>
          <a:prstGeom prst="rect">
            <a:avLst/>
          </a:prstGeom>
          <a:noFill/>
          <a:ln/>
        </p:spPr>
        <p:txBody>
          <a:bodyPr wrap="square" lIns="0" tIns="0" rIns="0" bIns="0" rtlCol="0" anchor="t"/>
          <a:lstStyle/>
          <a:p>
            <a:pPr indent="0" marL="0">
              <a:buNone/>
            </a:pPr>
            <a:r>
              <a:rPr lang="en-US" sz="1500" b="1" dirty="0">
                <a:solidFill>
                  <a:srgbClr val="4E5A67"/>
                </a:solidFill>
                <a:latin typeface="Roboto" pitchFamily="34" charset="0"/>
                <a:ea typeface="Roboto" pitchFamily="34" charset="-122"/>
                <a:cs typeface="Roboto" pitchFamily="34" charset="-120"/>
              </a:rPr>
              <a:t>RICE 35</a:t>
            </a:r>
            <a:endParaRPr lang="en-US" sz="1500" dirty="0"/>
          </a:p>
        </p:txBody>
      </p:sp>
      <p:sp>
        <p:nvSpPr>
          <p:cNvPr id="21" name="Shape 19"/>
          <p:cNvSpPr/>
          <p:nvPr/>
        </p:nvSpPr>
        <p:spPr>
          <a:xfrm>
            <a:off x="8115605" y="1234440"/>
            <a:ext cx="3527450" cy="2514600"/>
          </a:xfrm>
          <a:prstGeom prst="roundRect">
            <a:avLst>
              <a:gd name="adj" fmla="val 4364"/>
            </a:avLst>
          </a:prstGeom>
          <a:solidFill>
            <a:srgbClr val="EEF2F6"/>
          </a:solidFill>
          <a:ln w="12700">
            <a:solidFill>
              <a:srgbClr val="EEF2F6"/>
            </a:solidFill>
            <a:prstDash val="solid"/>
          </a:ln>
        </p:spPr>
      </p:sp>
      <p:sp>
        <p:nvSpPr>
          <p:cNvPr id="22" name="Text 20"/>
          <p:cNvSpPr txBox="1"/>
          <p:nvPr/>
        </p:nvSpPr>
        <p:spPr>
          <a:xfrm>
            <a:off x="8298485" y="1353312"/>
            <a:ext cx="3161690" cy="27432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S3 · Narrow it down together</a:t>
            </a:r>
            <a:endParaRPr lang="en-US" sz="1500" dirty="0"/>
          </a:p>
        </p:txBody>
      </p:sp>
      <p:sp>
        <p:nvSpPr>
          <p:cNvPr id="23" name="Text 21"/>
          <p:cNvSpPr txBox="1"/>
          <p:nvPr/>
        </p:nvSpPr>
        <p:spPr>
          <a:xfrm>
            <a:off x="8298485" y="1673352"/>
            <a:ext cx="3161690" cy="123444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Return a few high-signal candidates instead of a grid, and let the user eliminate by attribute: not this person, not indoors, earlier than this.</a:t>
            </a:r>
            <a:endParaRPr lang="en-US" sz="1400" dirty="0"/>
          </a:p>
        </p:txBody>
      </p:sp>
      <p:sp>
        <p:nvSpPr>
          <p:cNvPr id="24" name="Text 22"/>
          <p:cNvSpPr txBox="1"/>
          <p:nvPr/>
        </p:nvSpPr>
        <p:spPr>
          <a:xfrm>
            <a:off x="8298485" y="2971800"/>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Reach 6</a:t>
            </a:r>
            <a:endParaRPr lang="en-US" sz="1400" dirty="0"/>
          </a:p>
        </p:txBody>
      </p:sp>
      <p:sp>
        <p:nvSpPr>
          <p:cNvPr id="25" name="Text 23"/>
          <p:cNvSpPr txBox="1"/>
          <p:nvPr/>
        </p:nvSpPr>
        <p:spPr>
          <a:xfrm>
            <a:off x="9898685" y="2971800"/>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Impact 6</a:t>
            </a:r>
            <a:endParaRPr lang="en-US" sz="1400" dirty="0"/>
          </a:p>
        </p:txBody>
      </p:sp>
      <p:sp>
        <p:nvSpPr>
          <p:cNvPr id="26" name="Text 24"/>
          <p:cNvSpPr txBox="1"/>
          <p:nvPr/>
        </p:nvSpPr>
        <p:spPr>
          <a:xfrm>
            <a:off x="8298485" y="3227832"/>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Confidence 6</a:t>
            </a:r>
            <a:endParaRPr lang="en-US" sz="1400" dirty="0"/>
          </a:p>
        </p:txBody>
      </p:sp>
      <p:sp>
        <p:nvSpPr>
          <p:cNvPr id="27" name="Text 25"/>
          <p:cNvSpPr txBox="1"/>
          <p:nvPr/>
        </p:nvSpPr>
        <p:spPr>
          <a:xfrm>
            <a:off x="9898685" y="3227832"/>
            <a:ext cx="1554480" cy="237744"/>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Effort 6</a:t>
            </a:r>
            <a:endParaRPr lang="en-US" sz="1400" dirty="0"/>
          </a:p>
        </p:txBody>
      </p:sp>
      <p:sp>
        <p:nvSpPr>
          <p:cNvPr id="28" name="Text 26"/>
          <p:cNvSpPr txBox="1"/>
          <p:nvPr/>
        </p:nvSpPr>
        <p:spPr>
          <a:xfrm>
            <a:off x="8298485" y="3447288"/>
            <a:ext cx="3161690" cy="256032"/>
          </a:xfrm>
          <a:prstGeom prst="rect">
            <a:avLst/>
          </a:prstGeom>
          <a:noFill/>
          <a:ln/>
        </p:spPr>
        <p:txBody>
          <a:bodyPr wrap="square" lIns="0" tIns="0" rIns="0" bIns="0" rtlCol="0" anchor="t"/>
          <a:lstStyle/>
          <a:p>
            <a:pPr indent="0" marL="0">
              <a:buNone/>
            </a:pPr>
            <a:r>
              <a:rPr lang="en-US" sz="1500" b="1" dirty="0">
                <a:solidFill>
                  <a:srgbClr val="4E5A67"/>
                </a:solidFill>
                <a:latin typeface="Roboto" pitchFamily="34" charset="0"/>
                <a:ea typeface="Roboto" pitchFamily="34" charset="-122"/>
                <a:cs typeface="Roboto" pitchFamily="34" charset="-120"/>
              </a:rPr>
              <a:t>RICE 36</a:t>
            </a:r>
            <a:endParaRPr lang="en-US" sz="1500" dirty="0"/>
          </a:p>
        </p:txBody>
      </p:sp>
      <p:sp>
        <p:nvSpPr>
          <p:cNvPr id="29" name="Text 27"/>
          <p:cNvSpPr txBox="1"/>
          <p:nvPr/>
        </p:nvSpPr>
        <p:spPr>
          <a:xfrm>
            <a:off x="548640" y="3840480"/>
            <a:ext cx="11094415" cy="365760"/>
          </a:xfrm>
          <a:prstGeom prst="rect">
            <a:avLst/>
          </a:prstGeom>
          <a:noFill/>
          <a:ln/>
        </p:spPr>
        <p:txBody>
          <a:bodyPr wrap="square" lIns="0" tIns="0" rIns="0" bIns="0" rtlCol="0" anchor="t"/>
          <a:lstStyle/>
          <a:p>
            <a:pPr indent="0" marL="0">
              <a:buNone/>
            </a:pPr>
            <a:r>
              <a:rPr lang="en-US" sz="1400" b="1" dirty="0">
                <a:solidFill>
                  <a:srgbClr val="4E5A67"/>
                </a:solidFill>
                <a:latin typeface="Roboto" pitchFamily="34" charset="0"/>
                <a:ea typeface="Roboto" pitchFamily="34" charset="-122"/>
                <a:cs typeface="Roboto" pitchFamily="34" charset="-120"/>
              </a:rPr>
              <a:t>The honest tension: </a:t>
            </a:r>
            <a:pPr indent="0" marL="0">
              <a:buNone/>
            </a:pPr>
            <a:r>
              <a:rPr lang="en-US" sz="1400" dirty="0">
                <a:solidFill>
                  <a:srgbClr val="4E5A67"/>
                </a:solidFill>
                <a:latin typeface="Roboto" pitchFamily="34" charset="0"/>
                <a:ea typeface="Roboto" pitchFamily="34" charset="-122"/>
                <a:cs typeface="Roboto" pitchFamily="34" charset="-120"/>
              </a:rPr>
              <a:t>S2 reaches the 74% who scroll, the widest behaviour in our data, and still loses. It scores 4 on confidence because no user asked for it. We named it the next bet rather than dropping it.</a:t>
            </a:r>
            <a:endParaRPr lang="en-US" sz="1400" dirty="0"/>
          </a:p>
        </p:txBody>
      </p:sp>
      <p:sp>
        <p:nvSpPr>
          <p:cNvPr id="30" name="Shape 28"/>
          <p:cNvSpPr/>
          <p:nvPr/>
        </p:nvSpPr>
        <p:spPr>
          <a:xfrm>
            <a:off x="548640" y="4279392"/>
            <a:ext cx="3545738" cy="1417320"/>
          </a:xfrm>
          <a:prstGeom prst="roundRect">
            <a:avLst>
              <a:gd name="adj" fmla="val 7742"/>
            </a:avLst>
          </a:prstGeom>
          <a:solidFill>
            <a:srgbClr val="EEF2F6"/>
          </a:solidFill>
          <a:ln w="12700">
            <a:solidFill>
              <a:srgbClr val="EEF2F6"/>
            </a:solidFill>
            <a:prstDash val="solid"/>
          </a:ln>
        </p:spPr>
      </p:sp>
      <p:sp>
        <p:nvSpPr>
          <p:cNvPr id="31" name="Text 29"/>
          <p:cNvSpPr txBox="1"/>
          <p:nvPr/>
        </p:nvSpPr>
        <p:spPr>
          <a:xfrm>
            <a:off x="731520" y="4379976"/>
            <a:ext cx="3179978" cy="256032"/>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Does it solve the problem?</a:t>
            </a:r>
            <a:endParaRPr lang="en-US" sz="1400" dirty="0"/>
          </a:p>
        </p:txBody>
      </p:sp>
      <p:sp>
        <p:nvSpPr>
          <p:cNvPr id="32" name="Text 30"/>
          <p:cNvSpPr txBox="1"/>
          <p:nvPr/>
        </p:nvSpPr>
        <p:spPr>
          <a:xfrm>
            <a:off x="731520" y="4663440"/>
            <a:ext cx="3179978" cy="96012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The control test already proves it. “bill from last august” returned nothing; “bill from august 2025” returned an instant itemised answer. One question closes that gap in a single turn.</a:t>
            </a:r>
            <a:endParaRPr lang="en-US" sz="1400" dirty="0"/>
          </a:p>
        </p:txBody>
      </p:sp>
      <p:sp>
        <p:nvSpPr>
          <p:cNvPr id="33" name="Shape 31"/>
          <p:cNvSpPr/>
          <p:nvPr/>
        </p:nvSpPr>
        <p:spPr>
          <a:xfrm>
            <a:off x="4322978" y="4279392"/>
            <a:ext cx="3545738" cy="1417320"/>
          </a:xfrm>
          <a:prstGeom prst="roundRect">
            <a:avLst>
              <a:gd name="adj" fmla="val 7742"/>
            </a:avLst>
          </a:prstGeom>
          <a:solidFill>
            <a:srgbClr val="EEF2F6"/>
          </a:solidFill>
          <a:ln w="12700">
            <a:solidFill>
              <a:srgbClr val="EEF2F6"/>
            </a:solidFill>
            <a:prstDash val="solid"/>
          </a:ln>
        </p:spPr>
      </p:sp>
      <p:sp>
        <p:nvSpPr>
          <p:cNvPr id="34" name="Text 32"/>
          <p:cNvSpPr txBox="1"/>
          <p:nvPr/>
        </p:nvSpPr>
        <p:spPr>
          <a:xfrm>
            <a:off x="4505858" y="4379976"/>
            <a:ext cx="3179978" cy="256032"/>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Is it differentiated?</a:t>
            </a:r>
            <a:endParaRPr lang="en-US" sz="1400" dirty="0"/>
          </a:p>
        </p:txBody>
      </p:sp>
      <p:sp>
        <p:nvSpPr>
          <p:cNvPr id="35" name="Text 33"/>
          <p:cNvSpPr txBox="1"/>
          <p:nvPr/>
        </p:nvSpPr>
        <p:spPr>
          <a:xfrm>
            <a:off x="4505858" y="4663440"/>
            <a:ext cx="3179978" cy="96012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Google, Apple and Immich all guess silently. ChatGPT and Gemini ask, but cannot see your library. Nothing does both. The differentiator is surfacing uncertainty, not “AI search”.</a:t>
            </a:r>
            <a:endParaRPr lang="en-US" sz="1400" dirty="0"/>
          </a:p>
        </p:txBody>
      </p:sp>
      <p:sp>
        <p:nvSpPr>
          <p:cNvPr id="36" name="Shape 34"/>
          <p:cNvSpPr/>
          <p:nvPr/>
        </p:nvSpPr>
        <p:spPr>
          <a:xfrm>
            <a:off x="8097317" y="4279392"/>
            <a:ext cx="3545738" cy="1417320"/>
          </a:xfrm>
          <a:prstGeom prst="roundRect">
            <a:avLst>
              <a:gd name="adj" fmla="val 7742"/>
            </a:avLst>
          </a:prstGeom>
          <a:solidFill>
            <a:srgbClr val="EEF2F6"/>
          </a:solidFill>
          <a:ln w="12700">
            <a:solidFill>
              <a:srgbClr val="EEF2F6"/>
            </a:solidFill>
            <a:prstDash val="solid"/>
          </a:ln>
        </p:spPr>
      </p:sp>
      <p:sp>
        <p:nvSpPr>
          <p:cNvPr id="37" name="Text 35"/>
          <p:cNvSpPr txBox="1"/>
          <p:nvPr/>
        </p:nvSpPr>
        <p:spPr>
          <a:xfrm>
            <a:off x="8280197" y="4379976"/>
            <a:ext cx="3179978" cy="256032"/>
          </a:xfrm>
          <a:prstGeom prst="rect">
            <a:avLst/>
          </a:prstGeom>
          <a:noFill/>
          <a:ln/>
        </p:spPr>
        <p:txBody>
          <a:bodyPr wrap="square" lIns="0" tIns="0" rIns="0" bIns="0" rtlCol="0" anchor="t"/>
          <a:lstStyle/>
          <a:p>
            <a:pPr indent="0" marL="0">
              <a:buNone/>
            </a:pPr>
            <a:r>
              <a:rPr lang="en-US" sz="1400" b="1" dirty="0">
                <a:solidFill>
                  <a:srgbClr val="B04515"/>
                </a:solidFill>
                <a:latin typeface="Roboto" pitchFamily="34" charset="0"/>
                <a:ea typeface="Roboto" pitchFamily="34" charset="-122"/>
                <a:cs typeface="Roboto" pitchFamily="34" charset="-120"/>
              </a:rPr>
              <a:t>What stops a competitor copying it?</a:t>
            </a:r>
            <a:endParaRPr lang="en-US" sz="1400" dirty="0"/>
          </a:p>
        </p:txBody>
      </p:sp>
      <p:sp>
        <p:nvSpPr>
          <p:cNvPr id="38" name="Text 36"/>
          <p:cNvSpPr txBox="1"/>
          <p:nvPr/>
        </p:nvSpPr>
        <p:spPr>
          <a:xfrm>
            <a:off x="8280197" y="4663440"/>
            <a:ext cx="3179978" cy="960120"/>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The interaction is copyable in a week. The moat is underneath: judging ambiguity needs this user’s 15-year history, it runs on the existing index so no new data leaves, and it ships where the failure happens.</a:t>
            </a:r>
            <a:endParaRPr lang="en-US" sz="1400" dirty="0"/>
          </a:p>
        </p:txBody>
      </p:sp>
      <p:sp>
        <p:nvSpPr>
          <p:cNvPr id="39" name="Text 37"/>
          <p:cNvSpPr txBox="1"/>
          <p:nvPr/>
        </p:nvSpPr>
        <p:spPr>
          <a:xfrm>
            <a:off x="548640" y="5833872"/>
            <a:ext cx="11094415" cy="457200"/>
          </a:xfrm>
          <a:prstGeom prst="rect">
            <a:avLst/>
          </a:prstGeom>
          <a:noFill/>
          <a:ln/>
        </p:spPr>
        <p:txBody>
          <a:bodyPr wrap="square" lIns="0" tIns="0" rIns="0" bIns="0" rtlCol="0" anchor="t"/>
          <a:lstStyle/>
          <a:p>
            <a:pPr indent="0" marL="0">
              <a:buNone/>
            </a:pPr>
            <a:r>
              <a:rPr lang="en-US" sz="1400" b="1" dirty="0">
                <a:solidFill>
                  <a:srgbClr val="1C2530"/>
                </a:solidFill>
                <a:latin typeface="Roboto" pitchFamily="34" charset="0"/>
                <a:ea typeface="Roboto" pitchFamily="34" charset="-122"/>
                <a:cs typeface="Roboto" pitchFamily="34" charset="-120"/>
              </a:rPr>
              <a:t>Sizing this bet: </a:t>
            </a:r>
            <a:pPr indent="0" marL="0">
              <a:buNone/>
            </a:pPr>
            <a:r>
              <a:rPr lang="en-US" sz="1400" dirty="0">
                <a:solidFill>
                  <a:srgbClr val="1C2530"/>
                </a:solidFill>
                <a:latin typeface="Roboto" pitchFamily="34" charset="0"/>
                <a:ea typeface="Roboto" pitchFamily="34" charset="-122"/>
                <a:cs typeface="Roboto" pitchFamily="34" charset="-120"/>
              </a:rPr>
              <a:t>273M users fail monthly × 82% of failures are a misread clue = ~224M addressable. At a deliberately pessimistic 1-in-5 rescue rate, ~45M more successful retrievals a month.</a:t>
            </a:r>
            <a:pPr indent="0" marL="0">
              <a:buNone/>
            </a:pPr>
            <a:r>
              <a:rPr lang="en-US" sz="1400" b="1" dirty="0">
                <a:solidFill>
                  <a:srgbClr val="B04515"/>
                </a:solidFill>
                <a:latin typeface="Roboto" pitchFamily="34" charset="0"/>
                <a:ea typeface="Roboto" pitchFamily="34" charset="-122"/>
                <a:cs typeface="Roboto" pitchFamily="34" charset="-120"/>
              </a:rPr>
              <a:t>   Kill it if: </a:t>
            </a:r>
            <a:pPr indent="0" marL="0">
              <a:buNone/>
            </a:pPr>
            <a:r>
              <a:rPr lang="en-US" sz="1400" dirty="0">
                <a:solidFill>
                  <a:srgbClr val="B04515"/>
                </a:solidFill>
                <a:latin typeface="Roboto" pitchFamily="34" charset="0"/>
                <a:ea typeface="Roboto" pitchFamily="34" charset="-122"/>
                <a:cs typeface="Roboto" pitchFamily="34" charset="-120"/>
              </a:rPr>
              <a:t>clarifying questions exceed 0.4 per session, or anyone asks for the plain grid back.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28455" y="91440"/>
            <a:ext cx="2514600" cy="292608"/>
          </a:xfrm>
          <a:prstGeom prst="roundRect">
            <a:avLst>
              <a:gd name="adj" fmla="val 50000"/>
            </a:avLst>
          </a:prstGeom>
          <a:solidFill>
            <a:srgbClr val="FFF1E8"/>
          </a:solidFill>
          <a:ln w="12700">
            <a:solidFill>
              <a:srgbClr val="B04515"/>
            </a:solidFill>
            <a:prstDash val="solid"/>
          </a:ln>
        </p:spPr>
      </p:sp>
      <p:sp>
        <p:nvSpPr>
          <p:cNvPr id="3" name="Text 1"/>
          <p:cNvSpPr txBox="1"/>
          <p:nvPr/>
        </p:nvSpPr>
        <p:spPr>
          <a:xfrm>
            <a:off x="9128455" y="109728"/>
            <a:ext cx="2514600" cy="256032"/>
          </a:xfrm>
          <a:prstGeom prst="rect">
            <a:avLst/>
          </a:prstGeom>
          <a:noFill/>
          <a:ln/>
        </p:spPr>
        <p:txBody>
          <a:bodyPr wrap="square" lIns="0" tIns="0" rIns="0" bIns="0" rtlCol="0" anchor="ctr"/>
          <a:lstStyle/>
          <a:p>
            <a:pPr algn="ctr" indent="0" marL="0">
              <a:buNone/>
            </a:pPr>
            <a:r>
              <a:rPr lang="en-US" sz="1400" b="1" dirty="0">
                <a:solidFill>
                  <a:srgbClr val="B04515"/>
                </a:solidFill>
                <a:latin typeface="Roboto" pitchFamily="34" charset="0"/>
                <a:ea typeface="Roboto" pitchFamily="34" charset="-122"/>
                <a:cs typeface="Roboto" pitchFamily="34" charset="-120"/>
              </a:rPr>
              <a:t>TO COMPLETE: MVP in build</a:t>
            </a:r>
            <a:endParaRPr lang="en-US" sz="1400" dirty="0"/>
          </a:p>
        </p:txBody>
      </p:sp>
      <p:sp>
        <p:nvSpPr>
          <p:cNvPr id="4" name="Text 2"/>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[To complete] Tested against the tasks users actually failed: baseline first, then the MVP</a:t>
            </a:r>
            <a:endParaRPr lang="en-US" sz="2500" dirty="0"/>
          </a:p>
        </p:txBody>
      </p:sp>
      <p:sp>
        <p:nvSpPr>
          <p:cNvPr id="5" name="Shape 3"/>
          <p:cNvSpPr/>
          <p:nvPr/>
        </p:nvSpPr>
        <p:spPr>
          <a:xfrm>
            <a:off x="548640" y="1325880"/>
            <a:ext cx="11094415" cy="1051560"/>
          </a:xfrm>
          <a:prstGeom prst="roundRect">
            <a:avLst>
              <a:gd name="adj" fmla="val 10435"/>
            </a:avLst>
          </a:prstGeom>
          <a:solidFill>
            <a:srgbClr val="14213D"/>
          </a:solidFill>
          <a:ln w="12700">
            <a:solidFill>
              <a:srgbClr val="14213D"/>
            </a:solidFill>
            <a:prstDash val="solid"/>
          </a:ln>
        </p:spPr>
      </p:sp>
      <p:sp>
        <p:nvSpPr>
          <p:cNvPr id="6" name="Text 4"/>
          <p:cNvSpPr txBox="1"/>
          <p:nvPr/>
        </p:nvSpPr>
        <p:spPr>
          <a:xfrm>
            <a:off x="822960" y="1426464"/>
            <a:ext cx="10545775" cy="868680"/>
          </a:xfrm>
          <a:prstGeom prst="rect">
            <a:avLst/>
          </a:prstGeom>
          <a:noFill/>
          <a:ln/>
        </p:spPr>
        <p:txBody>
          <a:bodyPr wrap="square" lIns="0" tIns="0" rIns="0" bIns="0" rtlCol="0" anchor="ctr"/>
          <a:lstStyle/>
          <a:p>
            <a:pPr indent="0" marL="0">
              <a:buNone/>
            </a:pPr>
            <a:r>
              <a:rPr lang="en-US" sz="1500" b="1" dirty="0">
                <a:solidFill>
                  <a:srgbClr val="9FB3CC"/>
                </a:solidFill>
                <a:latin typeface="Roboto" pitchFamily="34" charset="0"/>
                <a:ea typeface="Roboto" pitchFamily="34" charset="-122"/>
                <a:cs typeface="Roboto" pitchFamily="34" charset="-120"/>
              </a:rPr>
              <a:t>Test design, fixed before building:  </a:t>
            </a:r>
            <a:pPr indent="0" marL="0">
              <a:buNone/>
            </a:pPr>
            <a:r>
              <a:rPr lang="en-US" sz="1500" dirty="0">
                <a:solidFill>
                  <a:srgbClr val="FFFFFF"/>
                </a:solidFill>
                <a:latin typeface="Roboto" pitchFamily="34" charset="0"/>
                <a:ea typeface="Roboto" pitchFamily="34" charset="-122"/>
                <a:cs typeface="Roboto" pitchFamily="34" charset="-120"/>
              </a:rPr>
              <a:t>3 users from the interview pool, each given their own real task from their own session. They attempt it in Google Photos first (attempts + time), then in the MVP. Success was defined in advance: ≥2 of 3 find it, in fewer attempts, and nobody asks for the plain grid back.</a:t>
            </a:r>
            <a:endParaRPr lang="en-US" sz="1500" dirty="0"/>
          </a:p>
        </p:txBody>
      </p:sp>
      <p:sp>
        <p:nvSpPr>
          <p:cNvPr id="7" name="Shape 5"/>
          <p:cNvSpPr/>
          <p:nvPr/>
        </p:nvSpPr>
        <p:spPr>
          <a:xfrm>
            <a:off x="548640" y="2606040"/>
            <a:ext cx="3515258" cy="2377440"/>
          </a:xfrm>
          <a:prstGeom prst="roundRect">
            <a:avLst>
              <a:gd name="adj" fmla="val 4615"/>
            </a:avLst>
          </a:prstGeom>
          <a:solidFill>
            <a:srgbClr val="EEF2F6"/>
          </a:solidFill>
          <a:ln w="12700">
            <a:solidFill>
              <a:srgbClr val="EEF2F6"/>
            </a:solidFill>
            <a:prstDash val="solid"/>
          </a:ln>
        </p:spPr>
      </p:sp>
      <p:sp>
        <p:nvSpPr>
          <p:cNvPr id="8" name="Text 6"/>
          <p:cNvSpPr txBox="1"/>
          <p:nvPr/>
        </p:nvSpPr>
        <p:spPr>
          <a:xfrm>
            <a:off x="749808" y="2715768"/>
            <a:ext cx="3112922" cy="320040"/>
          </a:xfrm>
          <a:prstGeom prst="rect">
            <a:avLst/>
          </a:prstGeom>
          <a:noFill/>
          <a:ln/>
        </p:spPr>
        <p:txBody>
          <a:bodyPr wrap="square" lIns="0" tIns="0" rIns="0" bIns="0" rtlCol="0" anchor="t"/>
          <a:lstStyle/>
          <a:p>
            <a:pPr indent="0" marL="0">
              <a:buNone/>
            </a:pPr>
            <a:r>
              <a:rPr lang="en-US" sz="1600" b="1" dirty="0">
                <a:solidFill>
                  <a:srgbClr val="1C2530"/>
                </a:solidFill>
                <a:latin typeface="Roboto" pitchFamily="34" charset="0"/>
                <a:ea typeface="Roboto" pitchFamily="34" charset="-122"/>
                <a:cs typeface="Roboto" pitchFamily="34" charset="-120"/>
              </a:rPr>
              <a:t>Tester 1</a:t>
            </a:r>
            <a:endParaRPr lang="en-US" sz="1600" dirty="0"/>
          </a:p>
        </p:txBody>
      </p:sp>
      <p:sp>
        <p:nvSpPr>
          <p:cNvPr id="9" name="Text 7"/>
          <p:cNvSpPr txBox="1"/>
          <p:nvPr/>
        </p:nvSpPr>
        <p:spPr>
          <a:xfrm>
            <a:off x="749808" y="3108960"/>
            <a:ext cx="3112922" cy="1828800"/>
          </a:xfrm>
          <a:prstGeom prst="rect">
            <a:avLst/>
          </a:prstGeom>
          <a:noFill/>
          <a:ln/>
        </p:spPr>
        <p:txBody>
          <a:bodyPr wrap="square" lIns="0" tIns="0" rIns="0" bIns="0" rtlCol="0" anchor="t"/>
          <a:lstStyle/>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Their task: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from their own interview</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In Google Photos: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attempts / time / found?</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In the MVP: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attempts / time / found?</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What they said: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
            </a:r>
            <a:endParaRPr lang="en-US" sz="1400" dirty="0"/>
          </a:p>
        </p:txBody>
      </p:sp>
      <p:sp>
        <p:nvSpPr>
          <p:cNvPr id="10" name="Shape 8"/>
          <p:cNvSpPr/>
          <p:nvPr/>
        </p:nvSpPr>
        <p:spPr>
          <a:xfrm>
            <a:off x="4338218" y="2606040"/>
            <a:ext cx="3515258" cy="2377440"/>
          </a:xfrm>
          <a:prstGeom prst="roundRect">
            <a:avLst>
              <a:gd name="adj" fmla="val 4615"/>
            </a:avLst>
          </a:prstGeom>
          <a:solidFill>
            <a:srgbClr val="EEF2F6"/>
          </a:solidFill>
          <a:ln w="12700">
            <a:solidFill>
              <a:srgbClr val="EEF2F6"/>
            </a:solidFill>
            <a:prstDash val="solid"/>
          </a:ln>
        </p:spPr>
      </p:sp>
      <p:sp>
        <p:nvSpPr>
          <p:cNvPr id="11" name="Text 9"/>
          <p:cNvSpPr txBox="1"/>
          <p:nvPr/>
        </p:nvSpPr>
        <p:spPr>
          <a:xfrm>
            <a:off x="4539386" y="2715768"/>
            <a:ext cx="3112922" cy="320040"/>
          </a:xfrm>
          <a:prstGeom prst="rect">
            <a:avLst/>
          </a:prstGeom>
          <a:noFill/>
          <a:ln/>
        </p:spPr>
        <p:txBody>
          <a:bodyPr wrap="square" lIns="0" tIns="0" rIns="0" bIns="0" rtlCol="0" anchor="t"/>
          <a:lstStyle/>
          <a:p>
            <a:pPr indent="0" marL="0">
              <a:buNone/>
            </a:pPr>
            <a:r>
              <a:rPr lang="en-US" sz="1600" b="1" dirty="0">
                <a:solidFill>
                  <a:srgbClr val="1C2530"/>
                </a:solidFill>
                <a:latin typeface="Roboto" pitchFamily="34" charset="0"/>
                <a:ea typeface="Roboto" pitchFamily="34" charset="-122"/>
                <a:cs typeface="Roboto" pitchFamily="34" charset="-120"/>
              </a:rPr>
              <a:t>Tester 2</a:t>
            </a:r>
            <a:endParaRPr lang="en-US" sz="1600" dirty="0"/>
          </a:p>
        </p:txBody>
      </p:sp>
      <p:sp>
        <p:nvSpPr>
          <p:cNvPr id="12" name="Text 10"/>
          <p:cNvSpPr txBox="1"/>
          <p:nvPr/>
        </p:nvSpPr>
        <p:spPr>
          <a:xfrm>
            <a:off x="4539386" y="3108960"/>
            <a:ext cx="3112922" cy="1828800"/>
          </a:xfrm>
          <a:prstGeom prst="rect">
            <a:avLst/>
          </a:prstGeom>
          <a:noFill/>
          <a:ln/>
        </p:spPr>
        <p:txBody>
          <a:bodyPr wrap="square" lIns="0" tIns="0" rIns="0" bIns="0" rtlCol="0" anchor="t"/>
          <a:lstStyle/>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Their task: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from their own interview</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In Google Photos: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attempts / time / found?</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In the MVP: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attempts / time / found?</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What they said: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
            </a:r>
            <a:endParaRPr lang="en-US" sz="1400" dirty="0"/>
          </a:p>
        </p:txBody>
      </p:sp>
      <p:sp>
        <p:nvSpPr>
          <p:cNvPr id="13" name="Shape 11"/>
          <p:cNvSpPr/>
          <p:nvPr/>
        </p:nvSpPr>
        <p:spPr>
          <a:xfrm>
            <a:off x="8127797" y="2606040"/>
            <a:ext cx="3515258" cy="2377440"/>
          </a:xfrm>
          <a:prstGeom prst="roundRect">
            <a:avLst>
              <a:gd name="adj" fmla="val 4615"/>
            </a:avLst>
          </a:prstGeom>
          <a:solidFill>
            <a:srgbClr val="EEF2F6"/>
          </a:solidFill>
          <a:ln w="12700">
            <a:solidFill>
              <a:srgbClr val="EEF2F6"/>
            </a:solidFill>
            <a:prstDash val="solid"/>
          </a:ln>
        </p:spPr>
      </p:sp>
      <p:sp>
        <p:nvSpPr>
          <p:cNvPr id="14" name="Text 12"/>
          <p:cNvSpPr txBox="1"/>
          <p:nvPr/>
        </p:nvSpPr>
        <p:spPr>
          <a:xfrm>
            <a:off x="8328965" y="2715768"/>
            <a:ext cx="3112922" cy="320040"/>
          </a:xfrm>
          <a:prstGeom prst="rect">
            <a:avLst/>
          </a:prstGeom>
          <a:noFill/>
          <a:ln/>
        </p:spPr>
        <p:txBody>
          <a:bodyPr wrap="square" lIns="0" tIns="0" rIns="0" bIns="0" rtlCol="0" anchor="t"/>
          <a:lstStyle/>
          <a:p>
            <a:pPr indent="0" marL="0">
              <a:buNone/>
            </a:pPr>
            <a:r>
              <a:rPr lang="en-US" sz="1600" b="1" dirty="0">
                <a:solidFill>
                  <a:srgbClr val="1C2530"/>
                </a:solidFill>
                <a:latin typeface="Roboto" pitchFamily="34" charset="0"/>
                <a:ea typeface="Roboto" pitchFamily="34" charset="-122"/>
                <a:cs typeface="Roboto" pitchFamily="34" charset="-120"/>
              </a:rPr>
              <a:t>Tester 3</a:t>
            </a:r>
            <a:endParaRPr lang="en-US" sz="1600" dirty="0"/>
          </a:p>
        </p:txBody>
      </p:sp>
      <p:sp>
        <p:nvSpPr>
          <p:cNvPr id="15" name="Text 13"/>
          <p:cNvSpPr txBox="1"/>
          <p:nvPr/>
        </p:nvSpPr>
        <p:spPr>
          <a:xfrm>
            <a:off x="8328965" y="3108960"/>
            <a:ext cx="3112922" cy="1828800"/>
          </a:xfrm>
          <a:prstGeom prst="rect">
            <a:avLst/>
          </a:prstGeom>
          <a:noFill/>
          <a:ln/>
        </p:spPr>
        <p:txBody>
          <a:bodyPr wrap="square" lIns="0" tIns="0" rIns="0" bIns="0" rtlCol="0" anchor="t"/>
          <a:lstStyle/>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Their task: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from their own interview</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In Google Photos: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attempts / time / found?</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In the MVP: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attempts / time / found?</a:t>
            </a:r>
            <a:endParaRPr lang="en-US" sz="1400" dirty="0"/>
          </a:p>
          <a:p>
            <a:pPr indent="0" marL="0">
              <a:spcAft>
                <a:spcPts val="600"/>
              </a:spcAft>
              <a:buNone/>
            </a:pPr>
            <a:r>
              <a:rPr lang="en-US" sz="1400" b="1" dirty="0">
                <a:solidFill>
                  <a:srgbClr val="4E5A67"/>
                </a:solidFill>
                <a:latin typeface="Roboto" pitchFamily="34" charset="0"/>
                <a:ea typeface="Roboto" pitchFamily="34" charset="-122"/>
                <a:cs typeface="Roboto" pitchFamily="34" charset="-120"/>
              </a:rPr>
              <a:t>What they said: </a:t>
            </a:r>
            <a:pPr indent="0" marL="0">
              <a:spcAft>
                <a:spcPts val="600"/>
              </a:spcAft>
              <a:buNone/>
            </a:pPr>
            <a:r>
              <a:rPr lang="en-US" sz="1400" dirty="0">
                <a:solidFill>
                  <a:srgbClr val="4E5A67"/>
                </a:solidFill>
                <a:latin typeface="Roboto" pitchFamily="34" charset="0"/>
                <a:ea typeface="Roboto" pitchFamily="34" charset="-122"/>
                <a:cs typeface="Roboto" pitchFamily="34" charset="-120"/>
              </a:rPr>
              <a:t>…</a:t>
            </a:r>
            <a:endParaRPr lang="en-US" sz="1400" dirty="0"/>
          </a:p>
        </p:txBody>
      </p:sp>
      <p:sp>
        <p:nvSpPr>
          <p:cNvPr id="16" name="Shape 14"/>
          <p:cNvSpPr/>
          <p:nvPr/>
        </p:nvSpPr>
        <p:spPr>
          <a:xfrm>
            <a:off x="548640" y="5166360"/>
            <a:ext cx="11094415" cy="1051560"/>
          </a:xfrm>
          <a:prstGeom prst="roundRect">
            <a:avLst>
              <a:gd name="adj" fmla="val 10435"/>
            </a:avLst>
          </a:prstGeom>
          <a:solidFill>
            <a:srgbClr val="EEF2F6"/>
          </a:solidFill>
          <a:ln w="12700">
            <a:solidFill>
              <a:srgbClr val="EEF2F6"/>
            </a:solidFill>
            <a:prstDash val="solid"/>
          </a:ln>
        </p:spPr>
      </p:sp>
      <p:sp>
        <p:nvSpPr>
          <p:cNvPr id="17" name="Text 15"/>
          <p:cNvSpPr txBox="1"/>
          <p:nvPr/>
        </p:nvSpPr>
        <p:spPr>
          <a:xfrm>
            <a:off x="777240" y="5266944"/>
            <a:ext cx="10637215" cy="292608"/>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What we'd change next</a:t>
            </a:r>
            <a:endParaRPr lang="en-US" sz="1500" dirty="0"/>
          </a:p>
        </p:txBody>
      </p:sp>
      <p:sp>
        <p:nvSpPr>
          <p:cNvPr id="18" name="Text 16"/>
          <p:cNvSpPr txBox="1"/>
          <p:nvPr/>
        </p:nvSpPr>
        <p:spPr>
          <a:xfrm>
            <a:off x="777240" y="5596128"/>
            <a:ext cx="10637215" cy="502920"/>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Reported honestly against the criteria above, including a partial or failed result if that's what the testing shows.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128455" y="91440"/>
            <a:ext cx="2514600" cy="292608"/>
          </a:xfrm>
          <a:prstGeom prst="roundRect">
            <a:avLst>
              <a:gd name="adj" fmla="val 50000"/>
            </a:avLst>
          </a:prstGeom>
          <a:solidFill>
            <a:srgbClr val="FFF1E8"/>
          </a:solidFill>
          <a:ln w="12700">
            <a:solidFill>
              <a:srgbClr val="B04515"/>
            </a:solidFill>
            <a:prstDash val="solid"/>
          </a:ln>
        </p:spPr>
      </p:sp>
      <p:sp>
        <p:nvSpPr>
          <p:cNvPr id="3" name="Text 1"/>
          <p:cNvSpPr txBox="1"/>
          <p:nvPr/>
        </p:nvSpPr>
        <p:spPr>
          <a:xfrm>
            <a:off x="9128455" y="109728"/>
            <a:ext cx="2514600" cy="256032"/>
          </a:xfrm>
          <a:prstGeom prst="rect">
            <a:avLst/>
          </a:prstGeom>
          <a:noFill/>
          <a:ln/>
        </p:spPr>
        <p:txBody>
          <a:bodyPr wrap="square" lIns="0" tIns="0" rIns="0" bIns="0" rtlCol="0" anchor="ctr"/>
          <a:lstStyle/>
          <a:p>
            <a:pPr algn="ctr" indent="0" marL="0">
              <a:buNone/>
            </a:pPr>
            <a:r>
              <a:rPr lang="en-US" sz="1400" b="1" dirty="0">
                <a:solidFill>
                  <a:srgbClr val="B04515"/>
                </a:solidFill>
                <a:latin typeface="Roboto" pitchFamily="34" charset="0"/>
                <a:ea typeface="Roboto" pitchFamily="34" charset="-122"/>
                <a:cs typeface="Roboto" pitchFamily="34" charset="-120"/>
              </a:rPr>
              <a:t>TO COMPLETE: MVP in build</a:t>
            </a:r>
            <a:endParaRPr lang="en-US" sz="1400" dirty="0"/>
          </a:p>
        </p:txBody>
      </p:sp>
      <p:sp>
        <p:nvSpPr>
          <p:cNvPr id="4" name="Text 2"/>
          <p:cNvSpPr txBox="1"/>
          <p:nvPr/>
        </p:nvSpPr>
        <p:spPr>
          <a:xfrm>
            <a:off x="548640" y="365760"/>
            <a:ext cx="11094415" cy="914400"/>
          </a:xfrm>
          <a:prstGeom prst="rect">
            <a:avLst/>
          </a:prstGeom>
          <a:noFill/>
          <a:ln/>
        </p:spPr>
        <p:txBody>
          <a:bodyPr wrap="square" lIns="0" tIns="0" rIns="0" bIns="0" rtlCol="0" anchor="ctr"/>
          <a:lstStyle/>
          <a:p>
            <a:pPr indent="0" marL="0">
              <a:buNone/>
            </a:pPr>
            <a:r>
              <a:rPr lang="en-US" sz="2500" b="1" dirty="0">
                <a:solidFill>
                  <a:srgbClr val="1C2530"/>
                </a:solidFill>
                <a:latin typeface="Roboto Slab" pitchFamily="34" charset="0"/>
                <a:ea typeface="Roboto Slab" pitchFamily="34" charset="-122"/>
                <a:cs typeface="Roboto Slab" pitchFamily="34" charset="-120"/>
              </a:rPr>
              <a:t>Success means fewer retries, fewer dead ends, and fewer documents photographed a second time</a:t>
            </a:r>
            <a:endParaRPr lang="en-US" sz="2500" dirty="0"/>
          </a:p>
        </p:txBody>
      </p:sp>
      <p:sp>
        <p:nvSpPr>
          <p:cNvPr id="5" name="Text 3"/>
          <p:cNvSpPr txBox="1"/>
          <p:nvPr/>
        </p:nvSpPr>
        <p:spPr>
          <a:xfrm>
            <a:off x="548640" y="1325880"/>
            <a:ext cx="1417320" cy="320040"/>
          </a:xfrm>
          <a:prstGeom prst="rect">
            <a:avLst/>
          </a:prstGeom>
          <a:noFill/>
          <a:ln/>
        </p:spPr>
        <p:txBody>
          <a:bodyPr wrap="square" lIns="0" tIns="0" rIns="0" bIns="0" rtlCol="0" anchor="t"/>
          <a:lstStyle/>
          <a:p>
            <a:pPr indent="0" marL="0">
              <a:buNone/>
            </a:pPr>
            <a:r>
              <a:rPr lang="en-US" sz="1500" b="1" dirty="0">
                <a:solidFill>
                  <a:srgbClr val="14213D"/>
                </a:solidFill>
                <a:latin typeface="Roboto" pitchFamily="34" charset="0"/>
                <a:ea typeface="Roboto" pitchFamily="34" charset="-122"/>
                <a:cs typeface="Roboto" pitchFamily="34" charset="-120"/>
              </a:rPr>
              <a:t>North star</a:t>
            </a:r>
            <a:endParaRPr lang="en-US" sz="1500" dirty="0"/>
          </a:p>
        </p:txBody>
      </p:sp>
      <p:sp>
        <p:nvSpPr>
          <p:cNvPr id="6" name="Text 4"/>
          <p:cNvSpPr txBox="1"/>
          <p:nvPr/>
        </p:nvSpPr>
        <p:spPr>
          <a:xfrm>
            <a:off x="2011680" y="1325880"/>
            <a:ext cx="4389120" cy="384048"/>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Vague-memory retrieval success rate: photo ≥1 yr old, opened and used</a:t>
            </a:r>
            <a:endParaRPr lang="en-US" sz="1400" dirty="0"/>
          </a:p>
        </p:txBody>
      </p:sp>
      <p:sp>
        <p:nvSpPr>
          <p:cNvPr id="7" name="Text 5"/>
          <p:cNvSpPr txBox="1"/>
          <p:nvPr/>
        </p:nvSpPr>
        <p:spPr>
          <a:xfrm>
            <a:off x="548640" y="2002536"/>
            <a:ext cx="1417320" cy="320040"/>
          </a:xfrm>
          <a:prstGeom prst="rect">
            <a:avLst/>
          </a:prstGeom>
          <a:noFill/>
          <a:ln/>
        </p:spPr>
        <p:txBody>
          <a:bodyPr wrap="square" lIns="0" tIns="0" rIns="0" bIns="0" rtlCol="0" anchor="t"/>
          <a:lstStyle/>
          <a:p>
            <a:pPr indent="0" marL="0">
              <a:buNone/>
            </a:pPr>
            <a:r>
              <a:rPr lang="en-US" sz="1500" b="1" dirty="0">
                <a:solidFill>
                  <a:srgbClr val="1C5CAB"/>
                </a:solidFill>
                <a:latin typeface="Roboto" pitchFamily="34" charset="0"/>
                <a:ea typeface="Roboto" pitchFamily="34" charset="-122"/>
                <a:cs typeface="Roboto" pitchFamily="34" charset="-120"/>
              </a:rPr>
              <a:t>Leading</a:t>
            </a:r>
            <a:endParaRPr lang="en-US" sz="1500" dirty="0"/>
          </a:p>
        </p:txBody>
      </p:sp>
      <p:sp>
        <p:nvSpPr>
          <p:cNvPr id="8" name="Text 6"/>
          <p:cNvSpPr txBox="1"/>
          <p:nvPr/>
        </p:nvSpPr>
        <p:spPr>
          <a:xfrm>
            <a:off x="2011680" y="2002536"/>
            <a:ext cx="4389120" cy="1152144"/>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Share of queries carrying 2+ cues</a:t>
            </a:r>
            <a:endParaRPr lang="en-US" sz="1400" dirty="0"/>
          </a:p>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Clarifying question accepted, then found within 2 turns</a:t>
            </a:r>
            <a:endParaRPr lang="en-US" sz="1400" dirty="0"/>
          </a:p>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Median attempts and time to found</a:t>
            </a:r>
            <a:endParaRPr lang="en-US" sz="1400" dirty="0"/>
          </a:p>
        </p:txBody>
      </p:sp>
      <p:sp>
        <p:nvSpPr>
          <p:cNvPr id="9" name="Text 7"/>
          <p:cNvSpPr txBox="1"/>
          <p:nvPr/>
        </p:nvSpPr>
        <p:spPr>
          <a:xfrm>
            <a:off x="548640" y="3447288"/>
            <a:ext cx="1417320" cy="320040"/>
          </a:xfrm>
          <a:prstGeom prst="rect">
            <a:avLst/>
          </a:prstGeom>
          <a:noFill/>
          <a:ln/>
        </p:spPr>
        <p:txBody>
          <a:bodyPr wrap="square" lIns="0" tIns="0" rIns="0" bIns="0" rtlCol="0" anchor="t"/>
          <a:lstStyle/>
          <a:p>
            <a:pPr indent="0" marL="0">
              <a:buNone/>
            </a:pPr>
            <a:r>
              <a:rPr lang="en-US" sz="1500" b="1" dirty="0">
                <a:solidFill>
                  <a:srgbClr val="1C5CAB"/>
                </a:solidFill>
                <a:latin typeface="Roboto" pitchFamily="34" charset="0"/>
                <a:ea typeface="Roboto" pitchFamily="34" charset="-122"/>
                <a:cs typeface="Roboto" pitchFamily="34" charset="-120"/>
              </a:rPr>
              <a:t>Diagnostic</a:t>
            </a:r>
            <a:endParaRPr lang="en-US" sz="1500" dirty="0"/>
          </a:p>
        </p:txBody>
      </p:sp>
      <p:sp>
        <p:nvSpPr>
          <p:cNvPr id="10" name="Text 8"/>
          <p:cNvSpPr txBox="1"/>
          <p:nvPr/>
        </p:nvSpPr>
        <p:spPr>
          <a:xfrm>
            <a:off x="2011680" y="3447288"/>
            <a:ext cx="4389120" cy="1152144"/>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Zero-result rate on descriptive queries</a:t>
            </a:r>
            <a:endParaRPr lang="en-US" sz="1400" dirty="0"/>
          </a:p>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Scroll depth before (or instead of) searching</a:t>
            </a:r>
            <a:endParaRPr lang="en-US" sz="1400" dirty="0"/>
          </a:p>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A document re-photographed within 10 min of a failed search: the “routing around” signal</a:t>
            </a:r>
            <a:endParaRPr lang="en-US" sz="1400" dirty="0"/>
          </a:p>
        </p:txBody>
      </p:sp>
      <p:sp>
        <p:nvSpPr>
          <p:cNvPr id="11" name="Text 9"/>
          <p:cNvSpPr txBox="1"/>
          <p:nvPr/>
        </p:nvSpPr>
        <p:spPr>
          <a:xfrm>
            <a:off x="548640" y="4892040"/>
            <a:ext cx="1417320" cy="320040"/>
          </a:xfrm>
          <a:prstGeom prst="rect">
            <a:avLst/>
          </a:prstGeom>
          <a:noFill/>
          <a:ln/>
        </p:spPr>
        <p:txBody>
          <a:bodyPr wrap="square" lIns="0" tIns="0" rIns="0" bIns="0" rtlCol="0" anchor="t"/>
          <a:lstStyle/>
          <a:p>
            <a:pPr indent="0" marL="0">
              <a:buNone/>
            </a:pPr>
            <a:r>
              <a:rPr lang="en-US" sz="1500" b="1" dirty="0">
                <a:solidFill>
                  <a:srgbClr val="4E5A67"/>
                </a:solidFill>
                <a:latin typeface="Roboto" pitchFamily="34" charset="0"/>
                <a:ea typeface="Roboto" pitchFamily="34" charset="-122"/>
                <a:cs typeface="Roboto" pitchFamily="34" charset="-120"/>
              </a:rPr>
              <a:t>Guardrails</a:t>
            </a:r>
            <a:endParaRPr lang="en-US" sz="1500" dirty="0"/>
          </a:p>
        </p:txBody>
      </p:sp>
      <p:sp>
        <p:nvSpPr>
          <p:cNvPr id="12" name="Text 10"/>
          <p:cNvSpPr txBox="1"/>
          <p:nvPr/>
        </p:nvSpPr>
        <p:spPr>
          <a:xfrm>
            <a:off x="2011680" y="4892040"/>
            <a:ext cx="4389120" cy="384048"/>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C2530"/>
                </a:solidFill>
                <a:latin typeface="Roboto" pitchFamily="34" charset="0"/>
                <a:ea typeface="Roboto" pitchFamily="34" charset="-122"/>
                <a:cs typeface="Roboto" pitchFamily="34" charset="-120"/>
              </a:rPr>
              <a:t>Latency · clarifying questions per session · opt-out rate · privacy complaints</a:t>
            </a:r>
            <a:endParaRPr lang="en-US" sz="1400" dirty="0"/>
          </a:p>
        </p:txBody>
      </p:sp>
      <p:sp>
        <p:nvSpPr>
          <p:cNvPr id="13" name="Text 11"/>
          <p:cNvSpPr txBox="1"/>
          <p:nvPr/>
        </p:nvSpPr>
        <p:spPr>
          <a:xfrm>
            <a:off x="6766560" y="1325880"/>
            <a:ext cx="4876495" cy="274320"/>
          </a:xfrm>
          <a:prstGeom prst="rect">
            <a:avLst/>
          </a:prstGeom>
          <a:noFill/>
          <a:ln/>
        </p:spPr>
        <p:txBody>
          <a:bodyPr wrap="square" lIns="0" tIns="0" rIns="0" bIns="0" rtlCol="0" anchor="t"/>
          <a:lstStyle/>
          <a:p>
            <a:pPr indent="0" marL="0">
              <a:buNone/>
            </a:pPr>
            <a:r>
              <a:rPr lang="en-US" sz="1500" b="1" dirty="0">
                <a:solidFill>
                  <a:srgbClr val="1C2530"/>
                </a:solidFill>
                <a:latin typeface="Roboto" pitchFamily="34" charset="0"/>
                <a:ea typeface="Roboto" pitchFamily="34" charset="-122"/>
                <a:cs typeface="Roboto" pitchFamily="34" charset="-120"/>
              </a:rPr>
              <a:t>What could make this fail, and how we would see it coming</a:t>
            </a:r>
            <a:endParaRPr lang="en-US" sz="1500" dirty="0"/>
          </a:p>
        </p:txBody>
      </p:sp>
      <p:sp>
        <p:nvSpPr>
          <p:cNvPr id="14" name="Shape 12"/>
          <p:cNvSpPr/>
          <p:nvPr/>
        </p:nvSpPr>
        <p:spPr>
          <a:xfrm>
            <a:off x="6766560" y="1664208"/>
            <a:ext cx="4876495" cy="1417320"/>
          </a:xfrm>
          <a:prstGeom prst="roundRect">
            <a:avLst>
              <a:gd name="adj" fmla="val 7742"/>
            </a:avLst>
          </a:prstGeom>
          <a:solidFill>
            <a:srgbClr val="EEF2F6"/>
          </a:solidFill>
          <a:ln w="12700">
            <a:solidFill>
              <a:srgbClr val="EEF2F6"/>
            </a:solidFill>
            <a:prstDash val="solid"/>
          </a:ln>
        </p:spPr>
      </p:sp>
      <p:sp>
        <p:nvSpPr>
          <p:cNvPr id="15" name="Text 13"/>
          <p:cNvSpPr txBox="1"/>
          <p:nvPr/>
        </p:nvSpPr>
        <p:spPr>
          <a:xfrm>
            <a:off x="6931152" y="1746504"/>
            <a:ext cx="4547311" cy="228600"/>
          </a:xfrm>
          <a:prstGeom prst="rect">
            <a:avLst/>
          </a:prstGeom>
          <a:noFill/>
          <a:ln/>
        </p:spPr>
        <p:txBody>
          <a:bodyPr wrap="square" lIns="0" tIns="0" rIns="0" bIns="0" rtlCol="0" anchor="t"/>
          <a:lstStyle/>
          <a:p>
            <a:pPr indent="0" marL="0">
              <a:buNone/>
            </a:pPr>
            <a:r>
              <a:rPr lang="en-US" sz="1400" b="1" dirty="0">
                <a:solidFill>
                  <a:srgbClr val="B04515"/>
                </a:solidFill>
                <a:latin typeface="Roboto" pitchFamily="34" charset="0"/>
                <a:ea typeface="Roboto" pitchFamily="34" charset="-122"/>
                <a:cs typeface="Roboto" pitchFamily="34" charset="-120"/>
              </a:rPr>
              <a:t>The question fires when it should not</a:t>
            </a:r>
            <a:endParaRPr lang="en-US" sz="1400" dirty="0"/>
          </a:p>
        </p:txBody>
      </p:sp>
      <p:sp>
        <p:nvSpPr>
          <p:cNvPr id="16" name="Text 14"/>
          <p:cNvSpPr txBox="1"/>
          <p:nvPr/>
        </p:nvSpPr>
        <p:spPr>
          <a:xfrm>
            <a:off x="6931152" y="1993392"/>
            <a:ext cx="4547311" cy="32918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Cause: scoring treats an unambiguous phrase as ambiguous, so every query gets interrupted.</a:t>
            </a:r>
            <a:endParaRPr lang="en-US" sz="1400" dirty="0"/>
          </a:p>
        </p:txBody>
      </p:sp>
      <p:sp>
        <p:nvSpPr>
          <p:cNvPr id="17" name="Text 15"/>
          <p:cNvSpPr txBox="1"/>
          <p:nvPr/>
        </p:nvSpPr>
        <p:spPr>
          <a:xfrm>
            <a:off x="6931152" y="2322576"/>
            <a:ext cx="4547311" cy="237744"/>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Signal: &gt;0.4 questions per session, or &gt;50% skipped.</a:t>
            </a:r>
            <a:endParaRPr lang="en-US" sz="1400" dirty="0"/>
          </a:p>
        </p:txBody>
      </p:sp>
      <p:sp>
        <p:nvSpPr>
          <p:cNvPr id="18" name="Text 16"/>
          <p:cNvSpPr txBox="1"/>
          <p:nvPr/>
        </p:nvSpPr>
        <p:spPr>
          <a:xfrm>
            <a:off x="6931152" y="2560320"/>
            <a:ext cx="4547311" cy="475488"/>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Fix, and its cost: only fire below 0.75 confidence, hard cap one per session. We will miss some genuinely ambiguous cases and return a wider set instead. A false interruption costs more trust than a wide result.</a:t>
            </a:r>
            <a:endParaRPr lang="en-US" sz="1400" dirty="0"/>
          </a:p>
        </p:txBody>
      </p:sp>
      <p:sp>
        <p:nvSpPr>
          <p:cNvPr id="19" name="Shape 17"/>
          <p:cNvSpPr/>
          <p:nvPr/>
        </p:nvSpPr>
        <p:spPr>
          <a:xfrm>
            <a:off x="6766560" y="3182112"/>
            <a:ext cx="4876495" cy="1417320"/>
          </a:xfrm>
          <a:prstGeom prst="roundRect">
            <a:avLst>
              <a:gd name="adj" fmla="val 7742"/>
            </a:avLst>
          </a:prstGeom>
          <a:solidFill>
            <a:srgbClr val="EEF2F6"/>
          </a:solidFill>
          <a:ln w="12700">
            <a:solidFill>
              <a:srgbClr val="EEF2F6"/>
            </a:solidFill>
            <a:prstDash val="solid"/>
          </a:ln>
        </p:spPr>
      </p:sp>
      <p:sp>
        <p:nvSpPr>
          <p:cNvPr id="20" name="Text 18"/>
          <p:cNvSpPr txBox="1"/>
          <p:nvPr/>
        </p:nvSpPr>
        <p:spPr>
          <a:xfrm>
            <a:off x="6931152" y="3264408"/>
            <a:ext cx="4547311" cy="228600"/>
          </a:xfrm>
          <a:prstGeom prst="rect">
            <a:avLst/>
          </a:prstGeom>
          <a:noFill/>
          <a:ln/>
        </p:spPr>
        <p:txBody>
          <a:bodyPr wrap="square" lIns="0" tIns="0" rIns="0" bIns="0" rtlCol="0" anchor="t"/>
          <a:lstStyle/>
          <a:p>
            <a:pPr indent="0" marL="0">
              <a:buNone/>
            </a:pPr>
            <a:r>
              <a:rPr lang="en-US" sz="1400" b="1" dirty="0">
                <a:solidFill>
                  <a:srgbClr val="B04515"/>
                </a:solidFill>
                <a:latin typeface="Roboto" pitchFamily="34" charset="0"/>
                <a:ea typeface="Roboto" pitchFamily="34" charset="-122"/>
                <a:cs typeface="Roboto" pitchFamily="34" charset="-120"/>
              </a:rPr>
              <a:t>A confident wrong answer</a:t>
            </a:r>
            <a:endParaRPr lang="en-US" sz="1400" dirty="0"/>
          </a:p>
        </p:txBody>
      </p:sp>
      <p:sp>
        <p:nvSpPr>
          <p:cNvPr id="21" name="Text 19"/>
          <p:cNvSpPr txBox="1"/>
          <p:nvPr/>
        </p:nvSpPr>
        <p:spPr>
          <a:xfrm>
            <a:off x="6931152" y="3511296"/>
            <a:ext cx="4547311" cy="32918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Cause: the model resolves an ambiguity correctly for most users but wrongly for this one, and states it as fact.</a:t>
            </a:r>
            <a:endParaRPr lang="en-US" sz="1400" dirty="0"/>
          </a:p>
        </p:txBody>
      </p:sp>
      <p:sp>
        <p:nvSpPr>
          <p:cNvPr id="22" name="Text 20"/>
          <p:cNvSpPr txBox="1"/>
          <p:nvPr/>
        </p:nvSpPr>
        <p:spPr>
          <a:xfrm>
            <a:off x="6931152" y="3840480"/>
            <a:ext cx="4547311" cy="237744"/>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Signal: result opened then abandoned within 3s; re-query within 30s.</a:t>
            </a:r>
            <a:endParaRPr lang="en-US" sz="1400" dirty="0"/>
          </a:p>
        </p:txBody>
      </p:sp>
      <p:sp>
        <p:nvSpPr>
          <p:cNvPr id="23" name="Text 21"/>
          <p:cNvSpPr txBox="1"/>
          <p:nvPr/>
        </p:nvSpPr>
        <p:spPr>
          <a:xfrm>
            <a:off x="6931152" y="4078224"/>
            <a:ext cx="4547311" cy="475488"/>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Fix, and its cost: show which cue matched, keep classic results beside it. Costs screen space and some perceived simplicity. This is Google's own fix after the Ask Photos pause.</a:t>
            </a:r>
            <a:endParaRPr lang="en-US" sz="1400" dirty="0"/>
          </a:p>
        </p:txBody>
      </p:sp>
      <p:sp>
        <p:nvSpPr>
          <p:cNvPr id="24" name="Shape 22"/>
          <p:cNvSpPr/>
          <p:nvPr/>
        </p:nvSpPr>
        <p:spPr>
          <a:xfrm>
            <a:off x="6766560" y="4700016"/>
            <a:ext cx="4876495" cy="1417320"/>
          </a:xfrm>
          <a:prstGeom prst="roundRect">
            <a:avLst>
              <a:gd name="adj" fmla="val 7742"/>
            </a:avLst>
          </a:prstGeom>
          <a:solidFill>
            <a:srgbClr val="EEF2F6"/>
          </a:solidFill>
          <a:ln w="12700">
            <a:solidFill>
              <a:srgbClr val="EEF2F6"/>
            </a:solidFill>
            <a:prstDash val="solid"/>
          </a:ln>
        </p:spPr>
      </p:sp>
      <p:sp>
        <p:nvSpPr>
          <p:cNvPr id="25" name="Text 23"/>
          <p:cNvSpPr txBox="1"/>
          <p:nvPr/>
        </p:nvSpPr>
        <p:spPr>
          <a:xfrm>
            <a:off x="6931152" y="4782312"/>
            <a:ext cx="4547311" cy="228600"/>
          </a:xfrm>
          <a:prstGeom prst="rect">
            <a:avLst/>
          </a:prstGeom>
          <a:noFill/>
          <a:ln/>
        </p:spPr>
        <p:txBody>
          <a:bodyPr wrap="square" lIns="0" tIns="0" rIns="0" bIns="0" rtlCol="0" anchor="t"/>
          <a:lstStyle/>
          <a:p>
            <a:pPr indent="0" marL="0">
              <a:buNone/>
            </a:pPr>
            <a:r>
              <a:rPr lang="en-US" sz="1400" b="1" dirty="0">
                <a:solidFill>
                  <a:srgbClr val="B04515"/>
                </a:solidFill>
                <a:latin typeface="Roboto" pitchFamily="34" charset="0"/>
                <a:ea typeface="Roboto" pitchFamily="34" charset="-122"/>
                <a:cs typeface="Roboto" pitchFamily="34" charset="-120"/>
              </a:rPr>
              <a:t>The demo library flatters the result</a:t>
            </a:r>
            <a:endParaRPr lang="en-US" sz="1400" dirty="0"/>
          </a:p>
        </p:txBody>
      </p:sp>
      <p:sp>
        <p:nvSpPr>
          <p:cNvPr id="26" name="Text 24"/>
          <p:cNvSpPr txBox="1"/>
          <p:nvPr/>
        </p:nvSpPr>
        <p:spPr>
          <a:xfrm>
            <a:off x="6931152" y="5029200"/>
            <a:ext cx="4547311" cy="329184"/>
          </a:xfrm>
          <a:prstGeom prst="rect">
            <a:avLst/>
          </a:prstGeom>
          <a:noFill/>
          <a:ln/>
        </p:spPr>
        <p:txBody>
          <a:bodyPr wrap="square" lIns="0" tIns="0" rIns="0" bIns="0" rtlCol="0" anchor="t"/>
          <a:lstStyle/>
          <a:p>
            <a:pPr indent="0" marL="0">
              <a:buNone/>
            </a:pPr>
            <a:r>
              <a:rPr lang="en-US" sz="1400" dirty="0">
                <a:solidFill>
                  <a:srgbClr val="4E5A67"/>
                </a:solidFill>
                <a:latin typeface="Roboto" pitchFamily="34" charset="0"/>
                <a:ea typeface="Roboto" pitchFamily="34" charset="-122"/>
                <a:cs typeface="Roboto" pitchFamily="34" charset="-120"/>
              </a:rPr>
              <a:t>Cause: a seeded library is smaller and cleaner than a real 75,000-item one, so retrieval looks easier than it is.</a:t>
            </a:r>
            <a:endParaRPr lang="en-US" sz="1400" dirty="0"/>
          </a:p>
        </p:txBody>
      </p:sp>
      <p:sp>
        <p:nvSpPr>
          <p:cNvPr id="27" name="Text 25"/>
          <p:cNvSpPr txBox="1"/>
          <p:nvPr/>
        </p:nvSpPr>
        <p:spPr>
          <a:xfrm>
            <a:off x="6931152" y="5358384"/>
            <a:ext cx="4547311" cy="237744"/>
          </a:xfrm>
          <a:prstGeom prst="rect">
            <a:avLst/>
          </a:prstGeom>
          <a:noFill/>
          <a:ln/>
        </p:spPr>
        <p:txBody>
          <a:bodyPr wrap="square" lIns="0" tIns="0" rIns="0" bIns="0" rtlCol="0" anchor="t"/>
          <a:lstStyle/>
          <a:p>
            <a:pPr indent="0" marL="0">
              <a:buNone/>
            </a:pPr>
            <a:r>
              <a:rPr lang="en-US" sz="1400" b="1" dirty="0">
                <a:solidFill>
                  <a:srgbClr val="1C5CAB"/>
                </a:solidFill>
                <a:latin typeface="Roboto" pitchFamily="34" charset="0"/>
                <a:ea typeface="Roboto" pitchFamily="34" charset="-122"/>
                <a:cs typeface="Roboto" pitchFamily="34" charset="-120"/>
              </a:rPr>
              <a:t>Signal: testers find items faster than their own Google Photos baseline by an implausible margin.</a:t>
            </a:r>
            <a:endParaRPr lang="en-US" sz="1400" dirty="0"/>
          </a:p>
        </p:txBody>
      </p:sp>
      <p:sp>
        <p:nvSpPr>
          <p:cNvPr id="28" name="Text 26"/>
          <p:cNvSpPr txBox="1"/>
          <p:nvPr/>
        </p:nvSpPr>
        <p:spPr>
          <a:xfrm>
            <a:off x="6931152" y="5596128"/>
            <a:ext cx="4547311" cy="475488"/>
          </a:xfrm>
          <a:prstGeom prst="rect">
            <a:avLst/>
          </a:prstGeom>
          <a:noFill/>
          <a:ln/>
        </p:spPr>
        <p:txBody>
          <a:bodyPr wrap="square" lIns="0" tIns="0" rIns="0" bIns="0" rtlCol="0" anchor="t"/>
          <a:lstStyle/>
          <a:p>
            <a:pPr indent="0" marL="0">
              <a:buNone/>
            </a:pPr>
            <a:r>
              <a:rPr lang="en-US" sz="1400" dirty="0">
                <a:solidFill>
                  <a:srgbClr val="1C2530"/>
                </a:solidFill>
                <a:latin typeface="Roboto" pitchFamily="34" charset="0"/>
                <a:ea typeface="Roboto" pitchFamily="34" charset="-122"/>
                <a:cs typeface="Roboto" pitchFamily="34" charset="-120"/>
              </a:rPr>
              <a:t>Fix, and its cost: seed it with the real failures from interviews, and state the limitation on the slide rather than burying it. We accept lower external validity in exchange for a testable MVP inside the deadline.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NL_GooglePhotos</dc:title>
  <dc:subject>PptxGenJS Presentation</dc:subject>
  <dc:creator>PptxGenJS</dc:creator>
  <cp:lastModifiedBy>PptxGenJS</cp:lastModifiedBy>
  <cp:revision>1</cp:revision>
  <dcterms:created xsi:type="dcterms:W3CDTF">2026-09-28T18:54:17Z</dcterms:created>
  <dcterms:modified xsi:type="dcterms:W3CDTF">2026-09-28T18:54:17Z</dcterms:modified>
</cp:coreProperties>
</file>